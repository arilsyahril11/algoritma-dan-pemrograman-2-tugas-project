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3"/>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enturyGothic-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enturyGothic-italic.fntdata"/><Relationship Id="rId14" Type="http://schemas.openxmlformats.org/officeDocument/2006/relationships/slide" Target="slides/slide9.xml"/><Relationship Id="rId36" Type="http://schemas.openxmlformats.org/officeDocument/2006/relationships/font" Target="fonts/CenturyGothic-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CenturyGothic-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5"/>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6"/>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6"/>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6"/>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9"/>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10"/>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1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11"/>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11"/>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1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12"/>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1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13"/>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13"/>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1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13"/>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
        <p:nvSpPr>
          <p:cNvPr id="95" name="Google Shape;95;p13"/>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14"/>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1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1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5"/>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15"/>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15"/>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15"/>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15"/>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15"/>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15"/>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15"/>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1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1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6"/>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16"/>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16"/>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16"/>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16"/>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16"/>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16"/>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16"/>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16"/>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16"/>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16"/>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1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7"/>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18"/>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5" name="Shape 155"/>
        <p:cNvGrpSpPr/>
        <p:nvPr/>
      </p:nvGrpSpPr>
      <p:grpSpPr>
        <a:xfrm>
          <a:off x="0" y="0"/>
          <a:ext cx="0" cy="0"/>
          <a:chOff x="0" y="0"/>
          <a:chExt cx="0" cy="0"/>
        </a:xfrm>
      </p:grpSpPr>
      <p:sp>
        <p:nvSpPr>
          <p:cNvPr id="156" name="Google Shape;156;p2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58" name="Google Shape;158;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2.xml"/><Relationship Id="rId1" Type="http://schemas.openxmlformats.org/officeDocument/2006/relationships/image" Target="../media/image1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4.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slideLayout" Target="../slideLayouts/slideLayout18.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1"/>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1"/>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1"/>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1"/>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1"/>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6"/>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 id="2147483660" r:id="rId18"/>
    <p:sldLayoutId id="2147483661" r:id="rId19"/>
    <p:sldLayoutId id="2147483662" r:id="rId20"/>
    <p:sldLayoutId id="2147483663" r:id="rId21"/>
    <p:sldLayoutId id="2147483664"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3" name="Shape 143"/>
        <p:cNvGrpSpPr/>
        <p:nvPr/>
      </p:nvGrpSpPr>
      <p:grpSpPr>
        <a:xfrm>
          <a:off x="0" y="0"/>
          <a:ext cx="0" cy="0"/>
          <a:chOff x="0" y="0"/>
          <a:chExt cx="0" cy="0"/>
        </a:xfrm>
      </p:grpSpPr>
      <p:pic>
        <p:nvPicPr>
          <p:cNvPr id="144" name="Google Shape;144;p19"/>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145" name="Google Shape;145;p19"/>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146" name="Google Shape;146;p19"/>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 name="Google Shape;147;p19"/>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48" name="Google Shape;148;p19"/>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49" name="Google Shape;149;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Century Gothic"/>
              <a:buNone/>
              <a:defRPr b="0" i="0" sz="4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51" name="Google Shape;151;p1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F7F7F7"/>
              </a:buClr>
              <a:buSzPts val="1600"/>
              <a:buFont typeface="Noto Sans Symbols"/>
              <a:buChar char="►"/>
              <a:defRPr b="0" i="0" sz="2000" u="none" cap="none" strike="noStrike">
                <a:solidFill>
                  <a:schemeClr val="dk1"/>
                </a:solidFill>
                <a:latin typeface="Century Gothic"/>
                <a:ea typeface="Century Gothic"/>
                <a:cs typeface="Century Gothic"/>
                <a:sym typeface="Century Gothic"/>
              </a:defRPr>
            </a:lvl1pPr>
            <a:lvl2pPr indent="-320040" lvl="1" marL="914400" marR="0" rtl="0" algn="l">
              <a:spcBef>
                <a:spcPts val="1000"/>
              </a:spcBef>
              <a:spcAft>
                <a:spcPts val="0"/>
              </a:spcAft>
              <a:buClr>
                <a:srgbClr val="F7F7F7"/>
              </a:buClr>
              <a:buSzPts val="1440"/>
              <a:buFont typeface="Noto Sans Symbols"/>
              <a:buChar char="►"/>
              <a:defRPr b="0" i="0" sz="1800" u="none" cap="none" strike="noStrike">
                <a:solidFill>
                  <a:schemeClr val="dk1"/>
                </a:solidFill>
                <a:latin typeface="Century Gothic"/>
                <a:ea typeface="Century Gothic"/>
                <a:cs typeface="Century Gothic"/>
                <a:sym typeface="Century Gothic"/>
              </a:defRPr>
            </a:lvl2pPr>
            <a:lvl3pPr indent="-309880" lvl="2" marL="1371600" marR="0" rtl="0" algn="l">
              <a:spcBef>
                <a:spcPts val="1000"/>
              </a:spcBef>
              <a:spcAft>
                <a:spcPts val="0"/>
              </a:spcAft>
              <a:buClr>
                <a:srgbClr val="F7F7F7"/>
              </a:buClr>
              <a:buSzPts val="1280"/>
              <a:buFont typeface="Noto Sans Symbols"/>
              <a:buChar char="►"/>
              <a:defRPr b="0" i="0" sz="1600" u="none" cap="none" strike="noStrike">
                <a:solidFill>
                  <a:schemeClr val="dk1"/>
                </a:solidFill>
                <a:latin typeface="Century Gothic"/>
                <a:ea typeface="Century Gothic"/>
                <a:cs typeface="Century Gothic"/>
                <a:sym typeface="Century Gothic"/>
              </a:defRPr>
            </a:lvl3pPr>
            <a:lvl4pPr indent="-299719" lvl="3" marL="1828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4pPr>
            <a:lvl5pPr indent="-299720" lvl="4" marL="22860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5pPr>
            <a:lvl6pPr indent="-299720" lvl="5" marL="27432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6pPr>
            <a:lvl7pPr indent="-299720" lvl="6" marL="32004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7pPr>
            <a:lvl8pPr indent="-299720" lvl="7" marL="36576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8pPr>
            <a:lvl9pPr indent="-299720" lvl="8" marL="4114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52" name="Google Shape;152;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3" name="Google Shape;153;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4" name="Google Shape;154;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rgbClr val="888888"/>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rgbClr val="888888"/>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rgbClr val="888888"/>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rgbClr val="888888"/>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rgbClr val="888888"/>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rgbClr val="888888"/>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rgbClr val="888888"/>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rgbClr val="888888"/>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5"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hyperlink" Target="https://en.wikipedia.org/wiki/Credit_card_numb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ctrTitle"/>
          </p:nvPr>
        </p:nvSpPr>
        <p:spPr>
          <a:xfrm>
            <a:off x="720000" y="1554630"/>
            <a:ext cx="5015638" cy="196977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2"/>
              </a:buClr>
              <a:buSzPct val="100000"/>
              <a:buFont typeface="Century Gothic"/>
              <a:buNone/>
            </a:pPr>
            <a:r>
              <a:rPr lang="en-US"/>
              <a:t>Cyber Security</a:t>
            </a:r>
            <a:endParaRPr/>
          </a:p>
        </p:txBody>
      </p:sp>
      <p:pic>
        <p:nvPicPr>
          <p:cNvPr id="166" name="Google Shape;166;p21"/>
          <p:cNvPicPr preferRelativeResize="0"/>
          <p:nvPr/>
        </p:nvPicPr>
        <p:blipFill rotWithShape="1">
          <a:blip r:embed="rId3">
            <a:alphaModFix/>
          </a:blip>
          <a:srcRect b="0" l="0" r="0" t="0"/>
          <a:stretch/>
        </p:blipFill>
        <p:spPr>
          <a:xfrm>
            <a:off x="6444525" y="1748869"/>
            <a:ext cx="5014800" cy="3351600"/>
          </a:xfrm>
          <a:custGeom>
            <a:rect b="b" l="l" r="r" t="t"/>
            <a:pathLst>
              <a:path extrusionOk="0" h="5409338" w="5014800">
                <a:moveTo>
                  <a:pt x="0" y="0"/>
                </a:moveTo>
                <a:lnTo>
                  <a:pt x="5014800" y="0"/>
                </a:lnTo>
                <a:lnTo>
                  <a:pt x="5014800" y="5409338"/>
                </a:lnTo>
                <a:lnTo>
                  <a:pt x="0" y="5409338"/>
                </a:ln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Arial"/>
              <a:buNone/>
            </a:pPr>
            <a:r>
              <a:rPr lang="en-US">
                <a:latin typeface="Arial"/>
                <a:ea typeface="Arial"/>
                <a:cs typeface="Arial"/>
                <a:sym typeface="Arial"/>
              </a:rPr>
              <a:t>CONTENT</a:t>
            </a:r>
            <a:endParaRPr/>
          </a:p>
        </p:txBody>
      </p:sp>
      <p:sp>
        <p:nvSpPr>
          <p:cNvPr id="172" name="Google Shape;172;p22"/>
          <p:cNvSpPr txBox="1"/>
          <p:nvPr>
            <p:ph idx="1" type="body"/>
          </p:nvPr>
        </p:nvSpPr>
        <p:spPr>
          <a:xfrm>
            <a:off x="1103311" y="2052214"/>
            <a:ext cx="5965394"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a:latin typeface="Arial"/>
                <a:ea typeface="Arial"/>
                <a:cs typeface="Arial"/>
                <a:sym typeface="Arial"/>
              </a:rPr>
              <a:t>Introduction</a:t>
            </a:r>
            <a:endParaRPr/>
          </a:p>
          <a:p>
            <a:pPr indent="-342900" lvl="0" marL="342900" rtl="0" algn="l">
              <a:spcBef>
                <a:spcPts val="1000"/>
              </a:spcBef>
              <a:spcAft>
                <a:spcPts val="0"/>
              </a:spcAft>
              <a:buSzPts val="1600"/>
              <a:buFont typeface="Noto Sans Symbols"/>
              <a:buChar char="⮚"/>
            </a:pPr>
            <a:r>
              <a:rPr lang="en-US">
                <a:latin typeface="Arial"/>
                <a:ea typeface="Arial"/>
                <a:cs typeface="Arial"/>
                <a:sym typeface="Arial"/>
              </a:rPr>
              <a:t>Understand :</a:t>
            </a:r>
            <a:endParaRPr/>
          </a:p>
          <a:p>
            <a:pPr indent="-228600" lvl="4" marL="2057400" rtl="0" algn="l">
              <a:spcBef>
                <a:spcPts val="1000"/>
              </a:spcBef>
              <a:spcAft>
                <a:spcPts val="0"/>
              </a:spcAft>
              <a:buSzPts val="1120"/>
              <a:buFont typeface="Noto Sans Symbols"/>
              <a:buChar char="❖"/>
            </a:pPr>
            <a:r>
              <a:rPr lang="en-US">
                <a:latin typeface="Arial"/>
                <a:ea typeface="Arial"/>
                <a:cs typeface="Arial"/>
                <a:sym typeface="Arial"/>
              </a:rPr>
              <a:t>What is the meaning of word “CYBER” ?.</a:t>
            </a:r>
            <a:endParaRPr/>
          </a:p>
          <a:p>
            <a:pPr indent="-228600" lvl="4" marL="2057400" rtl="0" algn="l">
              <a:spcBef>
                <a:spcPts val="1000"/>
              </a:spcBef>
              <a:spcAft>
                <a:spcPts val="0"/>
              </a:spcAft>
              <a:buSzPts val="1120"/>
              <a:buFont typeface="Noto Sans Symbols"/>
              <a:buChar char="❖"/>
            </a:pPr>
            <a:r>
              <a:rPr lang="en-US">
                <a:latin typeface="Arial"/>
                <a:ea typeface="Arial"/>
                <a:cs typeface="Arial"/>
                <a:sym typeface="Arial"/>
              </a:rPr>
              <a:t>What is the need of cyber security ?.</a:t>
            </a:r>
            <a:endParaRPr/>
          </a:p>
          <a:p>
            <a:pPr indent="-228600" lvl="4" marL="2057400" rtl="0" algn="l">
              <a:spcBef>
                <a:spcPts val="1000"/>
              </a:spcBef>
              <a:spcAft>
                <a:spcPts val="0"/>
              </a:spcAft>
              <a:buSzPts val="1120"/>
              <a:buFont typeface="Noto Sans Symbols"/>
              <a:buChar char="❖"/>
            </a:pPr>
            <a:r>
              <a:rPr lang="en-US">
                <a:latin typeface="Arial"/>
                <a:ea typeface="Arial"/>
                <a:cs typeface="Arial"/>
                <a:sym typeface="Arial"/>
              </a:rPr>
              <a:t>What are the security problems in cyber fields ?.</a:t>
            </a:r>
            <a:endParaRPr/>
          </a:p>
          <a:p>
            <a:pPr indent="-228600" lvl="4" marL="2057400" rtl="0" algn="l">
              <a:spcBef>
                <a:spcPts val="1000"/>
              </a:spcBef>
              <a:spcAft>
                <a:spcPts val="0"/>
              </a:spcAft>
              <a:buSzPts val="1120"/>
              <a:buFont typeface="Noto Sans Symbols"/>
              <a:buChar char="❖"/>
            </a:pPr>
            <a:r>
              <a:rPr lang="en-US">
                <a:latin typeface="Arial"/>
                <a:ea typeface="Arial"/>
                <a:cs typeface="Arial"/>
                <a:sym typeface="Arial"/>
              </a:rPr>
              <a:t>How to implement and maintain security of a cyber field around us?. </a:t>
            </a:r>
            <a:endParaRPr/>
          </a:p>
        </p:txBody>
      </p:sp>
      <p:pic>
        <p:nvPicPr>
          <p:cNvPr descr="Laptop Secure" id="173" name="Google Shape;173;p22"/>
          <p:cNvPicPr preferRelativeResize="0"/>
          <p:nvPr/>
        </p:nvPicPr>
        <p:blipFill rotWithShape="1">
          <a:blip r:embed="rId3">
            <a:alphaModFix/>
          </a:blip>
          <a:srcRect b="0" l="0" r="0" t="0"/>
          <a:stretch/>
        </p:blipFill>
        <p:spPr>
          <a:xfrm>
            <a:off x="7534655" y="2145861"/>
            <a:ext cx="4008888" cy="4008888"/>
          </a:xfrm>
          <a:prstGeom prst="rect">
            <a:avLst/>
          </a:prstGeom>
          <a:noFill/>
          <a:ln>
            <a:noFill/>
          </a:ln>
          <a:effectLst>
            <a:outerShdw blurRad="50800" rotWithShape="0" algn="t" dir="5400000" dist="38100">
              <a:srgbClr val="000000">
                <a:alpha val="42745"/>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Arial"/>
              <a:buNone/>
            </a:pPr>
            <a:r>
              <a:rPr lang="en-US">
                <a:latin typeface="Arial"/>
                <a:ea typeface="Arial"/>
                <a:cs typeface="Arial"/>
                <a:sym typeface="Arial"/>
              </a:rPr>
              <a:t>INTRODUCTION</a:t>
            </a:r>
            <a:endParaRPr/>
          </a:p>
        </p:txBody>
      </p:sp>
      <p:grpSp>
        <p:nvGrpSpPr>
          <p:cNvPr id="179" name="Google Shape;179;p23"/>
          <p:cNvGrpSpPr/>
          <p:nvPr/>
        </p:nvGrpSpPr>
        <p:grpSpPr>
          <a:xfrm>
            <a:off x="646111" y="2613101"/>
            <a:ext cx="9404352" cy="3110401"/>
            <a:chOff x="0" y="473016"/>
            <a:chExt cx="9404352" cy="3110401"/>
          </a:xfrm>
        </p:grpSpPr>
        <p:sp>
          <p:nvSpPr>
            <p:cNvPr id="180" name="Google Shape;180;p23"/>
            <p:cNvSpPr/>
            <p:nvPr/>
          </p:nvSpPr>
          <p:spPr>
            <a:xfrm>
              <a:off x="0" y="473016"/>
              <a:ext cx="9404352" cy="1516320"/>
            </a:xfrm>
            <a:prstGeom prst="roundRect">
              <a:avLst>
                <a:gd fmla="val 16667" name="adj"/>
              </a:avLst>
            </a:prstGeom>
            <a:solidFill>
              <a:srgbClr val="1B5155"/>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txBox="1"/>
            <p:nvPr/>
          </p:nvSpPr>
          <p:spPr>
            <a:xfrm>
              <a:off x="74021" y="547037"/>
              <a:ext cx="9256310" cy="1368278"/>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entury Gothic"/>
                <a:buNone/>
              </a:pPr>
              <a:r>
                <a:rPr b="0" i="0" lang="en-US" sz="2700" u="none" cap="none" strike="noStrike">
                  <a:solidFill>
                    <a:schemeClr val="lt1"/>
                  </a:solidFill>
                  <a:latin typeface="Century Gothic"/>
                  <a:ea typeface="Century Gothic"/>
                  <a:cs typeface="Century Gothic"/>
                  <a:sym typeface="Century Gothic"/>
                </a:rPr>
                <a:t>The term Cyber Security is used to refer to the Security Offered through On-line services to protect your online information.</a:t>
              </a:r>
              <a:endParaRPr/>
            </a:p>
          </p:txBody>
        </p:sp>
        <p:sp>
          <p:nvSpPr>
            <p:cNvPr id="182" name="Google Shape;182;p23"/>
            <p:cNvSpPr/>
            <p:nvPr/>
          </p:nvSpPr>
          <p:spPr>
            <a:xfrm>
              <a:off x="0" y="2067097"/>
              <a:ext cx="9404352" cy="1516320"/>
            </a:xfrm>
            <a:prstGeom prst="roundRect">
              <a:avLst>
                <a:gd fmla="val 16667" name="adj"/>
              </a:avLst>
            </a:prstGeom>
            <a:solidFill>
              <a:srgbClr val="1B5155"/>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3"/>
            <p:cNvSpPr txBox="1"/>
            <p:nvPr/>
          </p:nvSpPr>
          <p:spPr>
            <a:xfrm>
              <a:off x="74021" y="2141118"/>
              <a:ext cx="9256310" cy="1368278"/>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entury Gothic"/>
                <a:buNone/>
              </a:pPr>
              <a:r>
                <a:rPr b="0" i="0" lang="en-US" sz="2700" u="none" cap="none" strike="noStrike">
                  <a:solidFill>
                    <a:schemeClr val="lt1"/>
                  </a:solidFill>
                  <a:latin typeface="Century Gothic"/>
                  <a:ea typeface="Century Gothic"/>
                  <a:cs typeface="Century Gothic"/>
                  <a:sym typeface="Century Gothic"/>
                </a:rPr>
                <a:t>Information Technology or Cyber Security is the protection of computer systems from theft or damage to their Hardware ,Software or electronic data.</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4"/>
          <p:cNvPicPr preferRelativeResize="0"/>
          <p:nvPr/>
        </p:nvPicPr>
        <p:blipFill rotWithShape="1">
          <a:blip r:embed="rId3">
            <a:alphaModFix/>
          </a:blip>
          <a:srcRect b="0" l="0" r="0" t="0"/>
          <a:stretch/>
        </p:blipFill>
        <p:spPr>
          <a:xfrm>
            <a:off x="636915" y="2509000"/>
            <a:ext cx="5451627" cy="3282610"/>
          </a:xfrm>
          <a:prstGeom prst="rect">
            <a:avLst/>
          </a:prstGeom>
          <a:noFill/>
          <a:ln>
            <a:noFill/>
          </a:ln>
          <a:effectLst>
            <a:outerShdw blurRad="50800" rotWithShape="0" algn="t" dir="5400000" dist="38100">
              <a:srgbClr val="000000">
                <a:alpha val="42745"/>
              </a:srgbClr>
            </a:outerShdw>
          </a:effectLst>
        </p:spPr>
      </p:pic>
      <p:sp>
        <p:nvSpPr>
          <p:cNvPr id="189" name="Google Shape;189;p24"/>
          <p:cNvSpPr txBox="1"/>
          <p:nvPr>
            <p:ph idx="1" type="body"/>
          </p:nvPr>
        </p:nvSpPr>
        <p:spPr>
          <a:xfrm>
            <a:off x="6575729" y="2052214"/>
            <a:ext cx="4415293"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With an increasing amount of people getting connected to the internet , the security threats that cause massive harm are increasing also.</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8201837" y="1454963"/>
            <a:ext cx="3342462" cy="330838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5600"/>
              <a:buFont typeface="Century Gothic"/>
              <a:buNone/>
            </a:pPr>
            <a:r>
              <a:rPr lang="en-US" sz="5600"/>
              <a:t>Meaning Cyber </a:t>
            </a:r>
            <a:endParaRPr/>
          </a:p>
        </p:txBody>
      </p:sp>
      <p:sp>
        <p:nvSpPr>
          <p:cNvPr id="195" name="Google Shape;195;p25"/>
          <p:cNvSpPr txBox="1"/>
          <p:nvPr>
            <p:ph idx="1" type="body"/>
          </p:nvPr>
        </p:nvSpPr>
        <p:spPr>
          <a:xfrm>
            <a:off x="8201837" y="4763342"/>
            <a:ext cx="3342462" cy="148505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sz="1800" cap="none">
                <a:solidFill>
                  <a:srgbClr val="86D1D8"/>
                </a:solidFill>
              </a:rPr>
              <a:t>CHARACTERISTIC OF THE CULTURE OF COMPUTERS, INFORMATION TECHNOLOGY, AND VIRTUAL REALITY</a:t>
            </a:r>
            <a:endParaRPr sz="1800" cap="none">
              <a:solidFill>
                <a:srgbClr val="86D1D8"/>
              </a:solidFill>
            </a:endParaRPr>
          </a:p>
        </p:txBody>
      </p:sp>
      <p:pic>
        <p:nvPicPr>
          <p:cNvPr descr="A person typing on a keyboard&#10;&#10;Description automatically generated with low confidence" id="196" name="Google Shape;196;p25"/>
          <p:cNvPicPr preferRelativeResize="0"/>
          <p:nvPr/>
        </p:nvPicPr>
        <p:blipFill rotWithShape="1">
          <a:blip r:embed="rId3">
            <a:alphaModFix/>
          </a:blip>
          <a:srcRect b="1" l="20852" r="1" t="0"/>
          <a:stretch/>
        </p:blipFill>
        <p:spPr>
          <a:xfrm>
            <a:off x="607848" y="609601"/>
            <a:ext cx="6946288" cy="5638797"/>
          </a:xfrm>
          <a:prstGeom prst="rect">
            <a:avLst/>
          </a:prstGeom>
          <a:noFill/>
          <a:ln>
            <a:noFill/>
          </a:ln>
          <a:effectLst>
            <a:outerShdw blurRad="50800" rotWithShape="0" algn="t" dir="5400000" dist="38100">
              <a:srgbClr val="000000">
                <a:alpha val="4274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94"/>
                                        </p:tgtEl>
                                        <p:attrNameLst>
                                          <p:attrName>style.visibility</p:attrName>
                                        </p:attrNameLst>
                                      </p:cBhvr>
                                      <p:to>
                                        <p:strVal val="visible"/>
                                      </p:to>
                                    </p:set>
                                    <p:animEffect filter="fade" transition="in">
                                      <p:cBhvr>
                                        <p:cTn dur="7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Arial"/>
              <a:buNone/>
            </a:pPr>
            <a:r>
              <a:rPr lang="en-US">
                <a:latin typeface="Arial"/>
                <a:ea typeface="Arial"/>
                <a:cs typeface="Arial"/>
                <a:sym typeface="Arial"/>
              </a:rPr>
              <a:t>Need of Cyber Security</a:t>
            </a:r>
            <a:endParaRPr/>
          </a:p>
        </p:txBody>
      </p:sp>
      <p:grpSp>
        <p:nvGrpSpPr>
          <p:cNvPr id="202" name="Google Shape;202;p26"/>
          <p:cNvGrpSpPr/>
          <p:nvPr/>
        </p:nvGrpSpPr>
        <p:grpSpPr>
          <a:xfrm>
            <a:off x="2074442" y="2141636"/>
            <a:ext cx="6547688" cy="4053331"/>
            <a:chOff x="1428331" y="1551"/>
            <a:chExt cx="6547688" cy="4053331"/>
          </a:xfrm>
        </p:grpSpPr>
        <p:sp>
          <p:nvSpPr>
            <p:cNvPr id="203" name="Google Shape;203;p26"/>
            <p:cNvSpPr/>
            <p:nvPr/>
          </p:nvSpPr>
          <p:spPr>
            <a:xfrm>
              <a:off x="1428331" y="1551"/>
              <a:ext cx="3117946" cy="1870768"/>
            </a:xfrm>
            <a:prstGeom prst="rect">
              <a:avLst/>
            </a:prstGeom>
            <a:solidFill>
              <a:srgbClr val="E96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6"/>
            <p:cNvSpPr txBox="1"/>
            <p:nvPr/>
          </p:nvSpPr>
          <p:spPr>
            <a:xfrm>
              <a:off x="1428331" y="1551"/>
              <a:ext cx="3117946" cy="187076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Cyber security is necessary since it helps in securing data from threats such as data theft or misuse, also safeguards your system from viruses.</a:t>
              </a:r>
              <a:endParaRPr b="0" i="0" sz="1800" u="none" cap="none" strike="noStrike">
                <a:solidFill>
                  <a:schemeClr val="lt1"/>
                </a:solidFill>
                <a:latin typeface="Century Gothic"/>
                <a:ea typeface="Century Gothic"/>
                <a:cs typeface="Century Gothic"/>
                <a:sym typeface="Century Gothic"/>
              </a:endParaRPr>
            </a:p>
          </p:txBody>
        </p:sp>
        <p:sp>
          <p:nvSpPr>
            <p:cNvPr id="205" name="Google Shape;205;p26"/>
            <p:cNvSpPr/>
            <p:nvPr/>
          </p:nvSpPr>
          <p:spPr>
            <a:xfrm>
              <a:off x="4858073" y="1551"/>
              <a:ext cx="3117946" cy="1870768"/>
            </a:xfrm>
            <a:prstGeom prst="rect">
              <a:avLst/>
            </a:prstGeom>
            <a:solidFill>
              <a:srgbClr val="E6B726"/>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6"/>
            <p:cNvSpPr txBox="1"/>
            <p:nvPr/>
          </p:nvSpPr>
          <p:spPr>
            <a:xfrm>
              <a:off x="4858073" y="1551"/>
              <a:ext cx="3117946" cy="187076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Protect vital information while still allowing access to those who need it</a:t>
              </a:r>
              <a:endParaRPr b="0" i="0" sz="1800" u="none" cap="none" strike="noStrike">
                <a:solidFill>
                  <a:schemeClr val="lt1"/>
                </a:solidFill>
                <a:latin typeface="Century Gothic"/>
                <a:ea typeface="Century Gothic"/>
                <a:cs typeface="Century Gothic"/>
                <a:sym typeface="Century Gothic"/>
              </a:endParaRPr>
            </a:p>
          </p:txBody>
        </p:sp>
        <p:sp>
          <p:nvSpPr>
            <p:cNvPr id="207" name="Google Shape;207;p26"/>
            <p:cNvSpPr/>
            <p:nvPr/>
          </p:nvSpPr>
          <p:spPr>
            <a:xfrm>
              <a:off x="1428331" y="2184114"/>
              <a:ext cx="3117946" cy="1870768"/>
            </a:xfrm>
            <a:prstGeom prst="rect">
              <a:avLst/>
            </a:prstGeom>
            <a:solidFill>
              <a:srgbClr val="6AAA8E"/>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txBox="1"/>
            <p:nvPr/>
          </p:nvSpPr>
          <p:spPr>
            <a:xfrm>
              <a:off x="1428331" y="2184114"/>
              <a:ext cx="3117946" cy="187076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Provide authentication and access control for resources</a:t>
              </a:r>
              <a:endParaRPr b="0" i="0" sz="1800" u="none" cap="none" strike="noStrike">
                <a:solidFill>
                  <a:schemeClr val="lt1"/>
                </a:solidFill>
                <a:latin typeface="Century Gothic"/>
                <a:ea typeface="Century Gothic"/>
                <a:cs typeface="Century Gothic"/>
                <a:sym typeface="Century Gothic"/>
              </a:endParaRPr>
            </a:p>
          </p:txBody>
        </p:sp>
        <p:sp>
          <p:nvSpPr>
            <p:cNvPr id="209" name="Google Shape;209;p26"/>
            <p:cNvSpPr/>
            <p:nvPr/>
          </p:nvSpPr>
          <p:spPr>
            <a:xfrm>
              <a:off x="4858073" y="2184114"/>
              <a:ext cx="3117946" cy="1870768"/>
            </a:xfrm>
            <a:prstGeom prst="rect">
              <a:avLst/>
            </a:prstGeom>
            <a:solidFill>
              <a:srgbClr val="52849A"/>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6"/>
            <p:cNvSpPr txBox="1"/>
            <p:nvPr/>
          </p:nvSpPr>
          <p:spPr>
            <a:xfrm>
              <a:off x="4858073" y="2184114"/>
              <a:ext cx="3117946" cy="187076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Guarantee availability of resources</a:t>
              </a:r>
              <a:endParaRPr b="0" i="0" sz="18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title"/>
          </p:nvPr>
        </p:nvSpPr>
        <p:spPr>
          <a:xfrm>
            <a:off x="806195" y="804672"/>
            <a:ext cx="3521359" cy="52486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200"/>
              <a:buFont typeface="Times New Roman"/>
              <a:buNone/>
            </a:pPr>
            <a:r>
              <a:rPr lang="en-US">
                <a:latin typeface="Times New Roman"/>
                <a:ea typeface="Times New Roman"/>
                <a:cs typeface="Times New Roman"/>
                <a:sym typeface="Times New Roman"/>
              </a:rPr>
              <a:t>WHY CYBER SECURITY?</a:t>
            </a:r>
            <a:endParaRPr>
              <a:latin typeface="Arial"/>
              <a:ea typeface="Arial"/>
              <a:cs typeface="Arial"/>
              <a:sym typeface="Arial"/>
            </a:endParaRPr>
          </a:p>
        </p:txBody>
      </p:sp>
      <p:sp>
        <p:nvSpPr>
          <p:cNvPr id="216" name="Google Shape;216;p27"/>
          <p:cNvSpPr txBox="1"/>
          <p:nvPr>
            <p:ph idx="1" type="body"/>
          </p:nvPr>
        </p:nvSpPr>
        <p:spPr>
          <a:xfrm>
            <a:off x="4975861" y="804671"/>
            <a:ext cx="6399930" cy="524865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600"/>
              <a:buNone/>
            </a:pPr>
            <a:r>
              <a:rPr lang="en-US">
                <a:latin typeface="Times New Roman"/>
                <a:ea typeface="Times New Roman"/>
                <a:cs typeface="Times New Roman"/>
                <a:sym typeface="Times New Roman"/>
              </a:rPr>
              <a:t>The internet allows an attacker to attack from anywhere on the planet.</a:t>
            </a:r>
            <a:endParaRPr/>
          </a:p>
          <a:p>
            <a:pPr indent="-282447" lvl="0" marL="420624" rtl="0" algn="l">
              <a:spcBef>
                <a:spcPts val="1000"/>
              </a:spcBef>
              <a:spcAft>
                <a:spcPts val="0"/>
              </a:spcAft>
              <a:buSzPts val="1600"/>
              <a:buFont typeface="Noto Sans Symbols"/>
              <a:buNone/>
            </a:pPr>
            <a:r>
              <a:t/>
            </a:r>
            <a:endParaRPr>
              <a:latin typeface="Times New Roman"/>
              <a:ea typeface="Times New Roman"/>
              <a:cs typeface="Times New Roman"/>
              <a:sym typeface="Times New Roman"/>
            </a:endParaRPr>
          </a:p>
          <a:p>
            <a:pPr indent="0" lvl="0" marL="0" rtl="0" algn="l">
              <a:spcBef>
                <a:spcPts val="1000"/>
              </a:spcBef>
              <a:spcAft>
                <a:spcPts val="0"/>
              </a:spcAft>
              <a:buSzPts val="1600"/>
              <a:buNone/>
            </a:pPr>
            <a:r>
              <a:rPr lang="en-US">
                <a:latin typeface="Times New Roman"/>
                <a:ea typeface="Times New Roman"/>
                <a:cs typeface="Times New Roman"/>
                <a:sym typeface="Times New Roman"/>
              </a:rPr>
              <a:t>Risks caused by poor security knowledge and practice:</a:t>
            </a:r>
            <a:endParaRPr/>
          </a:p>
          <a:p>
            <a:pPr indent="-274319" lvl="2" marL="1122426" rtl="0" algn="l">
              <a:spcBef>
                <a:spcPts val="1000"/>
              </a:spcBef>
              <a:spcAft>
                <a:spcPts val="0"/>
              </a:spcAft>
              <a:buSzPts val="1280"/>
              <a:buFont typeface="Noto Sans Symbols"/>
              <a:buChar char="⚫"/>
            </a:pPr>
            <a:r>
              <a:rPr lang="en-US">
                <a:latin typeface="Times New Roman"/>
                <a:ea typeface="Times New Roman"/>
                <a:cs typeface="Times New Roman"/>
                <a:sym typeface="Times New Roman"/>
              </a:rPr>
              <a:t>Identity Theft</a:t>
            </a:r>
            <a:endParaRPr/>
          </a:p>
          <a:p>
            <a:pPr indent="-274319" lvl="2" marL="1122426" rtl="0" algn="l">
              <a:spcBef>
                <a:spcPts val="1000"/>
              </a:spcBef>
              <a:spcAft>
                <a:spcPts val="0"/>
              </a:spcAft>
              <a:buSzPts val="1280"/>
              <a:buFont typeface="Noto Sans Symbols"/>
              <a:buChar char="⚫"/>
            </a:pPr>
            <a:r>
              <a:rPr lang="en-US">
                <a:latin typeface="Times New Roman"/>
                <a:ea typeface="Times New Roman"/>
                <a:cs typeface="Times New Roman"/>
                <a:sym typeface="Times New Roman"/>
              </a:rPr>
              <a:t>Monetary Theft</a:t>
            </a:r>
            <a:endParaRPr/>
          </a:p>
          <a:p>
            <a:pPr indent="-274319" lvl="2" marL="1122426" rtl="0" algn="l">
              <a:spcBef>
                <a:spcPts val="1000"/>
              </a:spcBef>
              <a:spcAft>
                <a:spcPts val="0"/>
              </a:spcAft>
              <a:buSzPts val="1280"/>
              <a:buFont typeface="Noto Sans Symbols"/>
              <a:buChar char="⚫"/>
            </a:pPr>
            <a:r>
              <a:rPr lang="en-US">
                <a:latin typeface="Times New Roman"/>
                <a:ea typeface="Times New Roman"/>
                <a:cs typeface="Times New Roman"/>
                <a:sym typeface="Times New Roman"/>
              </a:rPr>
              <a:t>Legal Ramifications (for yourself and companies)</a:t>
            </a:r>
            <a:endParaRPr/>
          </a:p>
          <a:p>
            <a:pPr indent="-274319" lvl="2" marL="1122426" rtl="0" algn="l">
              <a:spcBef>
                <a:spcPts val="1000"/>
              </a:spcBef>
              <a:spcAft>
                <a:spcPts val="0"/>
              </a:spcAft>
              <a:buSzPts val="1280"/>
              <a:buFont typeface="Noto Sans Symbols"/>
              <a:buChar char="⚫"/>
            </a:pPr>
            <a:r>
              <a:rPr lang="en-US">
                <a:latin typeface="Times New Roman"/>
                <a:ea typeface="Times New Roman"/>
                <a:cs typeface="Times New Roman"/>
                <a:sym typeface="Times New Roman"/>
              </a:rPr>
              <a:t>Disciplinary Action if policies are not followed</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648931" y="629266"/>
            <a:ext cx="4166510" cy="162232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BEBEB"/>
              </a:buClr>
              <a:buSzPts val="4200"/>
              <a:buFont typeface="Arial"/>
              <a:buNone/>
            </a:pPr>
            <a:r>
              <a:rPr lang="en-US">
                <a:solidFill>
                  <a:srgbClr val="EBEBEB"/>
                </a:solidFill>
                <a:latin typeface="Arial"/>
                <a:ea typeface="Arial"/>
                <a:cs typeface="Arial"/>
                <a:sym typeface="Arial"/>
              </a:rPr>
              <a:t>Hackers</a:t>
            </a:r>
            <a:endParaRPr/>
          </a:p>
        </p:txBody>
      </p:sp>
      <p:sp>
        <p:nvSpPr>
          <p:cNvPr id="222" name="Google Shape;222;p28"/>
          <p:cNvSpPr txBox="1"/>
          <p:nvPr>
            <p:ph idx="1" type="body"/>
          </p:nvPr>
        </p:nvSpPr>
        <p:spPr>
          <a:xfrm>
            <a:off x="648931" y="2438400"/>
            <a:ext cx="4166509" cy="378541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solidFill>
                  <a:srgbClr val="EBEBEB"/>
                </a:solidFill>
                <a:latin typeface="Arial"/>
                <a:ea typeface="Arial"/>
                <a:cs typeface="Arial"/>
                <a:sym typeface="Arial"/>
              </a:rPr>
              <a:t>In common a hacker is a person who breaks into computers, usually by gaining access to administrative controls</a:t>
            </a:r>
            <a:r>
              <a:rPr lang="en-US">
                <a:solidFill>
                  <a:srgbClr val="EBEBEB"/>
                </a:solidFill>
              </a:rPr>
              <a:t>.</a:t>
            </a:r>
            <a:endParaRPr/>
          </a:p>
        </p:txBody>
      </p:sp>
      <p:pic>
        <p:nvPicPr>
          <p:cNvPr descr="A picture containing website&#10;&#10;Description automatically generated" id="223" name="Google Shape;223;p28"/>
          <p:cNvPicPr preferRelativeResize="0"/>
          <p:nvPr/>
        </p:nvPicPr>
        <p:blipFill rotWithShape="1">
          <a:blip r:embed="rId3">
            <a:alphaModFix/>
          </a:blip>
          <a:srcRect b="0" l="0" r="0" t="0"/>
          <a:stretch/>
        </p:blipFill>
        <p:spPr>
          <a:xfrm>
            <a:off x="6093992" y="1678222"/>
            <a:ext cx="5449889" cy="35015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Arial"/>
              <a:buNone/>
            </a:pPr>
            <a:r>
              <a:rPr lang="en-US">
                <a:latin typeface="Arial"/>
                <a:ea typeface="Arial"/>
                <a:cs typeface="Arial"/>
                <a:sym typeface="Arial"/>
              </a:rPr>
              <a:t>Types Of Hackers</a:t>
            </a:r>
            <a:endParaRPr/>
          </a:p>
        </p:txBody>
      </p:sp>
      <p:sp>
        <p:nvSpPr>
          <p:cNvPr id="229" name="Google Shape;229;p29"/>
          <p:cNvSpPr txBox="1"/>
          <p:nvPr>
            <p:ph idx="1" type="body"/>
          </p:nvPr>
        </p:nvSpPr>
        <p:spPr>
          <a:xfrm>
            <a:off x="1103311" y="2052214"/>
            <a:ext cx="5965394" cy="419618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a:latin typeface="Arial"/>
                <a:ea typeface="Arial"/>
                <a:cs typeface="Arial"/>
                <a:sym typeface="Arial"/>
              </a:rPr>
              <a:t>White Hat Hacker</a:t>
            </a:r>
            <a:endParaRPr/>
          </a:p>
          <a:p>
            <a:pPr indent="-342900" lvl="0" marL="342900" rtl="0" algn="l">
              <a:spcBef>
                <a:spcPts val="1000"/>
              </a:spcBef>
              <a:spcAft>
                <a:spcPts val="0"/>
              </a:spcAft>
              <a:buSzPts val="1600"/>
              <a:buFont typeface="Noto Sans Symbols"/>
              <a:buChar char="✔"/>
            </a:pPr>
            <a:r>
              <a:rPr lang="en-US">
                <a:latin typeface="Arial"/>
                <a:ea typeface="Arial"/>
                <a:cs typeface="Arial"/>
                <a:sym typeface="Arial"/>
              </a:rPr>
              <a:t>Grey Hat Hacker</a:t>
            </a:r>
            <a:endParaRPr/>
          </a:p>
          <a:p>
            <a:pPr indent="-342900" lvl="0" marL="342900" rtl="0" algn="l">
              <a:spcBef>
                <a:spcPts val="1000"/>
              </a:spcBef>
              <a:spcAft>
                <a:spcPts val="0"/>
              </a:spcAft>
              <a:buSzPts val="1600"/>
              <a:buFont typeface="Noto Sans Symbols"/>
              <a:buChar char="✔"/>
            </a:pPr>
            <a:r>
              <a:rPr lang="en-US">
                <a:latin typeface="Arial"/>
                <a:ea typeface="Arial"/>
                <a:cs typeface="Arial"/>
                <a:sym typeface="Arial"/>
              </a:rPr>
              <a:t>Black Hat Hacker</a:t>
            </a:r>
            <a:endParaRPr/>
          </a:p>
        </p:txBody>
      </p:sp>
      <p:pic>
        <p:nvPicPr>
          <p:cNvPr descr="A picture containing text, clipart&#10;&#10;Description automatically generated" id="230" name="Google Shape;230;p29"/>
          <p:cNvPicPr preferRelativeResize="0"/>
          <p:nvPr/>
        </p:nvPicPr>
        <p:blipFill rotWithShape="1">
          <a:blip r:embed="rId3">
            <a:alphaModFix/>
          </a:blip>
          <a:srcRect b="0" l="0" r="0" t="0"/>
          <a:stretch/>
        </p:blipFill>
        <p:spPr>
          <a:xfrm>
            <a:off x="6224015" y="1940560"/>
            <a:ext cx="4008888" cy="2122729"/>
          </a:xfrm>
          <a:prstGeom prst="rect">
            <a:avLst/>
          </a:prstGeom>
          <a:noFill/>
          <a:ln>
            <a:noFill/>
          </a:ln>
          <a:effectLst>
            <a:outerShdw blurRad="50800" rotWithShape="0" algn="t" dir="5400000" dist="38100">
              <a:srgbClr val="000000">
                <a:alpha val="42745"/>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Arial"/>
              <a:buNone/>
            </a:pPr>
            <a:r>
              <a:rPr lang="en-US">
                <a:latin typeface="Arial"/>
                <a:ea typeface="Arial"/>
                <a:cs typeface="Arial"/>
                <a:sym typeface="Arial"/>
              </a:rPr>
              <a:t>White Hat Hacker</a:t>
            </a:r>
            <a:endParaRPr/>
          </a:p>
        </p:txBody>
      </p:sp>
      <p:grpSp>
        <p:nvGrpSpPr>
          <p:cNvPr id="236" name="Google Shape;236;p30"/>
          <p:cNvGrpSpPr/>
          <p:nvPr/>
        </p:nvGrpSpPr>
        <p:grpSpPr>
          <a:xfrm>
            <a:off x="646111" y="2186636"/>
            <a:ext cx="9404352" cy="3963331"/>
            <a:chOff x="0" y="46551"/>
            <a:chExt cx="9404352" cy="3963331"/>
          </a:xfrm>
        </p:grpSpPr>
        <p:sp>
          <p:nvSpPr>
            <p:cNvPr id="237" name="Google Shape;237;p30"/>
            <p:cNvSpPr/>
            <p:nvPr/>
          </p:nvSpPr>
          <p:spPr>
            <a:xfrm>
              <a:off x="0" y="46551"/>
              <a:ext cx="9404352" cy="1942785"/>
            </a:xfrm>
            <a:prstGeom prst="roundRect">
              <a:avLst>
                <a:gd fmla="val 16667"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0"/>
            <p:cNvSpPr txBox="1"/>
            <p:nvPr/>
          </p:nvSpPr>
          <p:spPr>
            <a:xfrm>
              <a:off x="94839" y="141390"/>
              <a:ext cx="9214674" cy="175310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entury Gothic"/>
                <a:buNone/>
              </a:pPr>
              <a:r>
                <a:rPr b="0" i="0" lang="en-US" sz="2700" u="none" cap="none" strike="noStrike">
                  <a:solidFill>
                    <a:schemeClr val="lt1"/>
                  </a:solidFill>
                  <a:latin typeface="Century Gothic"/>
                  <a:ea typeface="Century Gothic"/>
                  <a:cs typeface="Century Gothic"/>
                  <a:sym typeface="Century Gothic"/>
                </a:rPr>
                <a:t>A white hat hacker is a computer security specialist who breaks into protected systems and networks to test and assess their security.</a:t>
              </a:r>
              <a:endParaRPr b="0" i="0" sz="2700" u="none" cap="none" strike="noStrike">
                <a:solidFill>
                  <a:schemeClr val="lt1"/>
                </a:solidFill>
                <a:latin typeface="Century Gothic"/>
                <a:ea typeface="Century Gothic"/>
                <a:cs typeface="Century Gothic"/>
                <a:sym typeface="Century Gothic"/>
              </a:endParaRPr>
            </a:p>
          </p:txBody>
        </p:sp>
        <p:sp>
          <p:nvSpPr>
            <p:cNvPr id="239" name="Google Shape;239;p30"/>
            <p:cNvSpPr/>
            <p:nvPr/>
          </p:nvSpPr>
          <p:spPr>
            <a:xfrm>
              <a:off x="0" y="2067097"/>
              <a:ext cx="9404352" cy="1942785"/>
            </a:xfrm>
            <a:prstGeom prst="roundRect">
              <a:avLst>
                <a:gd fmla="val 16667"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0"/>
            <p:cNvSpPr txBox="1"/>
            <p:nvPr/>
          </p:nvSpPr>
          <p:spPr>
            <a:xfrm>
              <a:off x="94839" y="2161936"/>
              <a:ext cx="9214674" cy="175310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entury Gothic"/>
                <a:buNone/>
              </a:pPr>
              <a:r>
                <a:rPr b="0" i="0" lang="en-US" sz="2700" u="none" cap="none" strike="noStrike">
                  <a:solidFill>
                    <a:schemeClr val="lt1"/>
                  </a:solidFill>
                  <a:latin typeface="Century Gothic"/>
                  <a:ea typeface="Century Gothic"/>
                  <a:cs typeface="Century Gothic"/>
                  <a:sym typeface="Century Gothic"/>
                </a:rPr>
                <a:t>White hat hackers use their skills to improve security by exposing vulnerabilities(weaknesses) before malicious hackers (known as black hat hackers) can detect and exploit them.</a:t>
              </a:r>
              <a:endParaRPr b="0" i="0" sz="27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806195" y="804672"/>
            <a:ext cx="3521359" cy="52486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200"/>
              <a:buFont typeface="Arial"/>
              <a:buNone/>
            </a:pPr>
            <a:r>
              <a:rPr lang="en-US">
                <a:latin typeface="Arial"/>
                <a:ea typeface="Arial"/>
                <a:cs typeface="Arial"/>
                <a:sym typeface="Arial"/>
              </a:rPr>
              <a:t>Grey Hat Hacker</a:t>
            </a:r>
            <a:endParaRPr/>
          </a:p>
        </p:txBody>
      </p:sp>
      <p:sp>
        <p:nvSpPr>
          <p:cNvPr id="246" name="Google Shape;246;p31"/>
          <p:cNvSpPr txBox="1"/>
          <p:nvPr>
            <p:ph idx="1" type="body"/>
          </p:nvPr>
        </p:nvSpPr>
        <p:spPr>
          <a:xfrm>
            <a:off x="4975861" y="804671"/>
            <a:ext cx="6399930" cy="5248657"/>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a:t>The term "grey hat", alternatively spelled as grey hat or "gray hat", refers to a computer hacker or computer security expert who may sometimes violate laws(illegal) or typical ethical standards, but does not have the malicious intent typical of a black hat hacker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806195" y="804672"/>
            <a:ext cx="3521359" cy="52486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200"/>
              <a:buFont typeface="Arial"/>
              <a:buNone/>
            </a:pPr>
            <a:r>
              <a:rPr lang="en-US">
                <a:latin typeface="Arial"/>
                <a:ea typeface="Arial"/>
                <a:cs typeface="Arial"/>
                <a:sym typeface="Arial"/>
              </a:rPr>
              <a:t>Black Hat Hacker</a:t>
            </a:r>
            <a:endParaRPr/>
          </a:p>
        </p:txBody>
      </p:sp>
      <p:sp>
        <p:nvSpPr>
          <p:cNvPr id="252" name="Google Shape;252;p32"/>
          <p:cNvSpPr txBox="1"/>
          <p:nvPr>
            <p:ph idx="1" type="body"/>
          </p:nvPr>
        </p:nvSpPr>
        <p:spPr>
          <a:xfrm>
            <a:off x="4975861" y="804671"/>
            <a:ext cx="6399930" cy="5248657"/>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Char char="►"/>
            </a:pPr>
            <a:r>
              <a:rPr lang="en-US"/>
              <a:t>Black hat refers to a hacker who breaks into a computer system or network with malicious intent. A black hat hacker may exploit security vulnerabilities for monetary gain; to steal or destroy private data , or to alter, disrupt or shut down websites and networks.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FF00"/>
              </a:buClr>
              <a:buSzPts val="4400"/>
              <a:buFont typeface="Times New Roman"/>
              <a:buNone/>
            </a:pPr>
            <a:r>
              <a:rPr lang="en-US" sz="4400">
                <a:solidFill>
                  <a:srgbClr val="FFFF00"/>
                </a:solidFill>
                <a:latin typeface="Times New Roman"/>
                <a:ea typeface="Times New Roman"/>
                <a:cs typeface="Times New Roman"/>
                <a:sym typeface="Times New Roman"/>
              </a:rPr>
              <a:t>TYPES OF HACKERS</a:t>
            </a:r>
            <a:endParaRPr/>
          </a:p>
        </p:txBody>
      </p:sp>
      <p:sp>
        <p:nvSpPr>
          <p:cNvPr id="258" name="Google Shape;258;p33"/>
          <p:cNvSpPr txBox="1"/>
          <p:nvPr>
            <p:ph idx="1" type="body"/>
          </p:nvPr>
        </p:nvSpPr>
        <p:spPr>
          <a:xfrm>
            <a:off x="720726" y="1193534"/>
            <a:ext cx="9158566" cy="4537964"/>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lang="en-US" sz="2400">
                <a:solidFill>
                  <a:srgbClr val="00FF00"/>
                </a:solidFill>
                <a:latin typeface="Times New Roman"/>
                <a:ea typeface="Times New Roman"/>
                <a:cs typeface="Times New Roman"/>
                <a:sym typeface="Times New Roman"/>
              </a:rPr>
              <a:t>Professional hackers</a:t>
            </a:r>
            <a:endParaRPr/>
          </a:p>
          <a:p>
            <a:pPr indent="-285750" lvl="1" marL="74295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Black Hats – the Bad Guys</a:t>
            </a:r>
            <a:endParaRPr/>
          </a:p>
          <a:p>
            <a:pPr indent="-285750" lvl="1" marL="74295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White Hats – Professional Security Experts</a:t>
            </a:r>
            <a:endParaRPr/>
          </a:p>
          <a:p>
            <a:pPr indent="-342900" lvl="0" marL="342900" rtl="0" algn="l">
              <a:lnSpc>
                <a:spcPct val="90000"/>
              </a:lnSpc>
              <a:spcBef>
                <a:spcPts val="1000"/>
              </a:spcBef>
              <a:spcAft>
                <a:spcPts val="0"/>
              </a:spcAft>
              <a:buSzPts val="1920"/>
              <a:buChar char="►"/>
            </a:pPr>
            <a:r>
              <a:rPr lang="en-US" sz="2400">
                <a:solidFill>
                  <a:srgbClr val="00FF00"/>
                </a:solidFill>
                <a:latin typeface="Times New Roman"/>
                <a:ea typeface="Times New Roman"/>
                <a:cs typeface="Times New Roman"/>
                <a:sym typeface="Times New Roman"/>
              </a:rPr>
              <a:t>Script kiddies</a:t>
            </a:r>
            <a:endParaRPr/>
          </a:p>
          <a:p>
            <a:pPr indent="-285750" lvl="1" marL="74295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Mostly kids/students</a:t>
            </a:r>
            <a:endParaRPr/>
          </a:p>
          <a:p>
            <a:pPr indent="-228600" lvl="2" marL="1143000" rtl="0" algn="l">
              <a:lnSpc>
                <a:spcPct val="90000"/>
              </a:lnSpc>
              <a:spcBef>
                <a:spcPts val="1000"/>
              </a:spcBef>
              <a:spcAft>
                <a:spcPts val="0"/>
              </a:spcAft>
              <a:buSzPts val="1280"/>
              <a:buChar char="►"/>
            </a:pPr>
            <a:r>
              <a:rPr lang="en-US">
                <a:latin typeface="Times New Roman"/>
                <a:ea typeface="Times New Roman"/>
                <a:cs typeface="Times New Roman"/>
                <a:sym typeface="Times New Roman"/>
              </a:rPr>
              <a:t>User tools created by black hats</a:t>
            </a:r>
            <a:endParaRPr/>
          </a:p>
          <a:p>
            <a:pPr indent="-228600" lvl="3" marL="160020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To get free stuff</a:t>
            </a:r>
            <a:endParaRPr/>
          </a:p>
          <a:p>
            <a:pPr indent="-228600" lvl="3" marL="160020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Impress their peers</a:t>
            </a:r>
            <a:endParaRPr/>
          </a:p>
          <a:p>
            <a:pPr indent="-228600" lvl="3" marL="1600200" rtl="0" algn="l">
              <a:lnSpc>
                <a:spcPct val="90000"/>
              </a:lnSpc>
              <a:spcBef>
                <a:spcPts val="1000"/>
              </a:spcBef>
              <a:spcAft>
                <a:spcPts val="0"/>
              </a:spcAft>
              <a:buSzPts val="1920"/>
              <a:buChar char="►"/>
            </a:pPr>
            <a:r>
              <a:rPr lang="en-US" sz="2400">
                <a:latin typeface="Times New Roman"/>
                <a:ea typeface="Times New Roman"/>
                <a:cs typeface="Times New Roman"/>
                <a:sym typeface="Times New Roman"/>
              </a:rPr>
              <a:t>Not get caught</a:t>
            </a:r>
            <a:endParaRPr/>
          </a:p>
          <a:p>
            <a:pPr indent="-342900" lvl="0" marL="342900" rtl="0" algn="l">
              <a:lnSpc>
                <a:spcPct val="90000"/>
              </a:lnSpc>
              <a:spcBef>
                <a:spcPts val="1000"/>
              </a:spcBef>
              <a:spcAft>
                <a:spcPts val="0"/>
              </a:spcAft>
              <a:buSzPts val="1920"/>
              <a:buChar char="►"/>
            </a:pPr>
            <a:r>
              <a:rPr lang="en-US" sz="2400">
                <a:solidFill>
                  <a:srgbClr val="00FF00"/>
                </a:solidFill>
                <a:latin typeface="Times New Roman"/>
                <a:ea typeface="Times New Roman"/>
                <a:cs typeface="Times New Roman"/>
                <a:sym typeface="Times New Roman"/>
              </a:rPr>
              <a:t>Underemployed Adult Hackers </a:t>
            </a:r>
            <a:endParaRPr/>
          </a:p>
          <a:p>
            <a:pPr indent="-285750" lvl="1" marL="742950" rtl="0" algn="l">
              <a:lnSpc>
                <a:spcPct val="90000"/>
              </a:lnSpc>
              <a:spcBef>
                <a:spcPts val="1000"/>
              </a:spcBef>
              <a:spcAft>
                <a:spcPts val="0"/>
              </a:spcAft>
              <a:buSzPts val="1920"/>
              <a:buChar char="►"/>
            </a:pPr>
            <a:r>
              <a:rPr lang="en-US" sz="2400">
                <a:solidFill>
                  <a:srgbClr val="F2F2F2"/>
                </a:solidFill>
                <a:latin typeface="Times New Roman"/>
                <a:ea typeface="Times New Roman"/>
                <a:cs typeface="Times New Roman"/>
                <a:sym typeface="Times New Roman"/>
              </a:rPr>
              <a:t>Former </a:t>
            </a:r>
            <a:r>
              <a:rPr b="1" lang="en-US" sz="2400">
                <a:solidFill>
                  <a:srgbClr val="F2F2F2"/>
                </a:solidFill>
                <a:latin typeface="Times New Roman"/>
                <a:ea typeface="Times New Roman"/>
                <a:cs typeface="Times New Roman"/>
                <a:sym typeface="Times New Roman"/>
              </a:rPr>
              <a:t>Script Kiddies</a:t>
            </a:r>
            <a:endParaRPr/>
          </a:p>
          <a:p>
            <a:pPr indent="-228600" lvl="2" marL="1143000" rtl="0" algn="l">
              <a:lnSpc>
                <a:spcPct val="90000"/>
              </a:lnSpc>
              <a:spcBef>
                <a:spcPts val="1000"/>
              </a:spcBef>
              <a:spcAft>
                <a:spcPts val="0"/>
              </a:spcAft>
              <a:buSzPts val="1280"/>
              <a:buChar char="►"/>
            </a:pPr>
            <a:r>
              <a:rPr lang="en-US">
                <a:solidFill>
                  <a:srgbClr val="F2F2F2"/>
                </a:solidFill>
                <a:latin typeface="Times New Roman"/>
                <a:ea typeface="Times New Roman"/>
                <a:cs typeface="Times New Roman"/>
                <a:sym typeface="Times New Roman"/>
              </a:rPr>
              <a:t>Can’t get employment in the field</a:t>
            </a:r>
            <a:endParaRPr/>
          </a:p>
          <a:p>
            <a:pPr indent="-228600" lvl="2" marL="1143000" rtl="0" algn="l">
              <a:lnSpc>
                <a:spcPct val="90000"/>
              </a:lnSpc>
              <a:spcBef>
                <a:spcPts val="1000"/>
              </a:spcBef>
              <a:spcAft>
                <a:spcPts val="0"/>
              </a:spcAft>
              <a:buSzPts val="1280"/>
              <a:buChar char="►"/>
            </a:pPr>
            <a:r>
              <a:rPr lang="en-US">
                <a:solidFill>
                  <a:srgbClr val="F2F2F2"/>
                </a:solidFill>
                <a:latin typeface="Times New Roman"/>
                <a:ea typeface="Times New Roman"/>
                <a:cs typeface="Times New Roman"/>
                <a:sym typeface="Times New Roman"/>
              </a:rPr>
              <a:t>Want recognition in hacker community</a:t>
            </a:r>
            <a:endParaRPr/>
          </a:p>
          <a:p>
            <a:pPr indent="-228600" lvl="2" marL="1143000" rtl="0" algn="l">
              <a:lnSpc>
                <a:spcPct val="90000"/>
              </a:lnSpc>
              <a:spcBef>
                <a:spcPts val="1000"/>
              </a:spcBef>
              <a:spcAft>
                <a:spcPts val="0"/>
              </a:spcAft>
              <a:buSzPts val="1280"/>
              <a:buChar char="►"/>
            </a:pPr>
            <a:r>
              <a:rPr lang="en-US">
                <a:solidFill>
                  <a:srgbClr val="F2F2F2"/>
                </a:solidFill>
                <a:latin typeface="Times New Roman"/>
                <a:ea typeface="Times New Roman"/>
                <a:cs typeface="Times New Roman"/>
                <a:sym typeface="Times New Roman"/>
              </a:rPr>
              <a:t>Big in eastern European countries</a:t>
            </a:r>
            <a:endParaRPr/>
          </a:p>
          <a:p>
            <a:pPr indent="-106680" lvl="3" marL="1600200" rtl="0" algn="l">
              <a:lnSpc>
                <a:spcPct val="90000"/>
              </a:lnSpc>
              <a:spcBef>
                <a:spcPts val="1000"/>
              </a:spcBef>
              <a:spcAft>
                <a:spcPts val="0"/>
              </a:spcAft>
              <a:buSzPts val="1920"/>
              <a:buNone/>
            </a:pPr>
            <a:r>
              <a:t/>
            </a:r>
            <a:endParaRPr sz="2400">
              <a:solidFill>
                <a:srgbClr val="F7BF9E"/>
              </a:solidFill>
              <a:latin typeface="Times New Roman"/>
              <a:ea typeface="Times New Roman"/>
              <a:cs typeface="Times New Roman"/>
              <a:sym typeface="Times New Roman"/>
            </a:endParaRPr>
          </a:p>
          <a:p>
            <a:pPr indent="-106680" lvl="3" marL="1600200" rtl="0" algn="l">
              <a:lnSpc>
                <a:spcPct val="90000"/>
              </a:lnSpc>
              <a:spcBef>
                <a:spcPts val="1000"/>
              </a:spcBef>
              <a:spcAft>
                <a:spcPts val="0"/>
              </a:spcAft>
              <a:buSzPts val="1920"/>
              <a:buNone/>
            </a:pPr>
            <a:r>
              <a:t/>
            </a:r>
            <a:endParaRPr sz="2400">
              <a:solidFill>
                <a:srgbClr val="F7BF9E"/>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20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20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20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animEffect filter="fade" transition="in">
                                      <p:cBhvr>
                                        <p:cTn dur="2000"/>
                                        <p:tgtEl>
                                          <p:spTgt spid="2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animEffect filter="fade" transition="in">
                                      <p:cBhvr>
                                        <p:cTn dur="2000"/>
                                        <p:tgtEl>
                                          <p:spTgt spid="2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animEffect filter="fade" transition="in">
                                      <p:cBhvr>
                                        <p:cTn dur="2000"/>
                                        <p:tgtEl>
                                          <p:spTgt spid="2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6" st="6"/>
                                            </p:txEl>
                                          </p:spTgt>
                                        </p:tgtEl>
                                        <p:attrNameLst>
                                          <p:attrName>style.visibility</p:attrName>
                                        </p:attrNameLst>
                                      </p:cBhvr>
                                      <p:to>
                                        <p:strVal val="visible"/>
                                      </p:to>
                                    </p:set>
                                    <p:animEffect filter="fade" transition="in">
                                      <p:cBhvr>
                                        <p:cTn dur="2000"/>
                                        <p:tgtEl>
                                          <p:spTgt spid="2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7" st="7"/>
                                            </p:txEl>
                                          </p:spTgt>
                                        </p:tgtEl>
                                        <p:attrNameLst>
                                          <p:attrName>style.visibility</p:attrName>
                                        </p:attrNameLst>
                                      </p:cBhvr>
                                      <p:to>
                                        <p:strVal val="visible"/>
                                      </p:to>
                                    </p:set>
                                    <p:animEffect filter="fade" transition="in">
                                      <p:cBhvr>
                                        <p:cTn dur="2000"/>
                                        <p:tgtEl>
                                          <p:spTgt spid="2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8" st="8"/>
                                            </p:txEl>
                                          </p:spTgt>
                                        </p:tgtEl>
                                        <p:attrNameLst>
                                          <p:attrName>style.visibility</p:attrName>
                                        </p:attrNameLst>
                                      </p:cBhvr>
                                      <p:to>
                                        <p:strVal val="visible"/>
                                      </p:to>
                                    </p:set>
                                    <p:animEffect filter="fade" transition="in">
                                      <p:cBhvr>
                                        <p:cTn dur="2000"/>
                                        <p:tgtEl>
                                          <p:spTgt spid="2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9" st="9"/>
                                            </p:txEl>
                                          </p:spTgt>
                                        </p:tgtEl>
                                        <p:attrNameLst>
                                          <p:attrName>style.visibility</p:attrName>
                                        </p:attrNameLst>
                                      </p:cBhvr>
                                      <p:to>
                                        <p:strVal val="visible"/>
                                      </p:to>
                                    </p:set>
                                    <p:animEffect filter="fade" transition="in">
                                      <p:cBhvr>
                                        <p:cTn dur="2000"/>
                                        <p:tgtEl>
                                          <p:spTgt spid="2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0" st="10"/>
                                            </p:txEl>
                                          </p:spTgt>
                                        </p:tgtEl>
                                        <p:attrNameLst>
                                          <p:attrName>style.visibility</p:attrName>
                                        </p:attrNameLst>
                                      </p:cBhvr>
                                      <p:to>
                                        <p:strVal val="visible"/>
                                      </p:to>
                                    </p:set>
                                    <p:animEffect filter="fade" transition="in">
                                      <p:cBhvr>
                                        <p:cTn dur="2000"/>
                                        <p:tgtEl>
                                          <p:spTgt spid="2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1" st="11"/>
                                            </p:txEl>
                                          </p:spTgt>
                                        </p:tgtEl>
                                        <p:attrNameLst>
                                          <p:attrName>style.visibility</p:attrName>
                                        </p:attrNameLst>
                                      </p:cBhvr>
                                      <p:to>
                                        <p:strVal val="visible"/>
                                      </p:to>
                                    </p:set>
                                    <p:animEffect filter="fade" transition="in">
                                      <p:cBhvr>
                                        <p:cTn dur="2000"/>
                                        <p:tgtEl>
                                          <p:spTgt spid="2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2" st="12"/>
                                            </p:txEl>
                                          </p:spTgt>
                                        </p:tgtEl>
                                        <p:attrNameLst>
                                          <p:attrName>style.visibility</p:attrName>
                                        </p:attrNameLst>
                                      </p:cBhvr>
                                      <p:to>
                                        <p:strVal val="visible"/>
                                      </p:to>
                                    </p:set>
                                    <p:animEffect filter="fade" transition="in">
                                      <p:cBhvr>
                                        <p:cTn dur="2000"/>
                                        <p:tgtEl>
                                          <p:spTgt spid="25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3" st="13"/>
                                            </p:txEl>
                                          </p:spTgt>
                                        </p:tgtEl>
                                        <p:attrNameLst>
                                          <p:attrName>style.visibility</p:attrName>
                                        </p:attrNameLst>
                                      </p:cBhvr>
                                      <p:to>
                                        <p:strVal val="visible"/>
                                      </p:to>
                                    </p:set>
                                    <p:animEffect filter="fade" transition="in">
                                      <p:cBhvr>
                                        <p:cTn dur="2000"/>
                                        <p:tgtEl>
                                          <p:spTgt spid="25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4" st="14"/>
                                            </p:txEl>
                                          </p:spTgt>
                                        </p:tgtEl>
                                        <p:attrNameLst>
                                          <p:attrName>style.visibility</p:attrName>
                                        </p:attrNameLst>
                                      </p:cBhvr>
                                      <p:to>
                                        <p:strVal val="visible"/>
                                      </p:to>
                                    </p:set>
                                    <p:animEffect filter="fade" transition="in">
                                      <p:cBhvr>
                                        <p:cTn dur="2000"/>
                                        <p:tgtEl>
                                          <p:spTgt spid="25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5" st="15"/>
                                            </p:txEl>
                                          </p:spTgt>
                                        </p:tgtEl>
                                        <p:attrNameLst>
                                          <p:attrName>style.visibility</p:attrName>
                                        </p:attrNameLst>
                                      </p:cBhvr>
                                      <p:to>
                                        <p:strVal val="visible"/>
                                      </p:to>
                                    </p:set>
                                    <p:animEffect filter="fade" transition="in">
                                      <p:cBhvr>
                                        <p:cTn dur="2000"/>
                                        <p:tgtEl>
                                          <p:spTgt spid="258">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806195" y="804672"/>
            <a:ext cx="3521359" cy="52486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200"/>
              <a:buFont typeface="Times New Roman"/>
              <a:buNone/>
            </a:pPr>
            <a:r>
              <a:rPr lang="en-US">
                <a:latin typeface="Times New Roman"/>
                <a:ea typeface="Times New Roman"/>
                <a:cs typeface="Times New Roman"/>
                <a:sym typeface="Times New Roman"/>
              </a:rPr>
              <a:t>TYPES OF HACKERS</a:t>
            </a:r>
            <a:endParaRPr>
              <a:latin typeface="Arial"/>
              <a:ea typeface="Arial"/>
              <a:cs typeface="Arial"/>
              <a:sym typeface="Arial"/>
            </a:endParaRPr>
          </a:p>
        </p:txBody>
      </p:sp>
      <p:sp>
        <p:nvSpPr>
          <p:cNvPr id="264" name="Google Shape;264;p34"/>
          <p:cNvSpPr txBox="1"/>
          <p:nvPr>
            <p:ph idx="1" type="body"/>
          </p:nvPr>
        </p:nvSpPr>
        <p:spPr>
          <a:xfrm>
            <a:off x="4975861" y="804671"/>
            <a:ext cx="6399930" cy="5248657"/>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Char char="►"/>
            </a:pPr>
            <a:r>
              <a:rPr lang="en-US">
                <a:latin typeface="Times New Roman"/>
                <a:ea typeface="Times New Roman"/>
                <a:cs typeface="Times New Roman"/>
                <a:sym typeface="Times New Roman"/>
              </a:rPr>
              <a:t>Ideological Hackers</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hack as a mechanism to promote some political or ideological purpose</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Usually coincide with political events</a:t>
            </a:r>
            <a:endParaRPr/>
          </a:p>
          <a:p>
            <a:pPr indent="-342900" lvl="0" marL="342900" rtl="0" algn="l">
              <a:spcBef>
                <a:spcPts val="1000"/>
              </a:spcBef>
              <a:spcAft>
                <a:spcPts val="0"/>
              </a:spcAft>
              <a:buSzPts val="1600"/>
              <a:buChar char="►"/>
            </a:pPr>
            <a:r>
              <a:rPr lang="en-US">
                <a:latin typeface="Times New Roman"/>
                <a:ea typeface="Times New Roman"/>
                <a:cs typeface="Times New Roman"/>
                <a:sym typeface="Times New Roman"/>
              </a:rPr>
              <a:t>Criminal Hackers</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Real criminals, are in it for whatever they can get no matter who it hurts</a:t>
            </a:r>
            <a:endParaRPr/>
          </a:p>
          <a:p>
            <a:pPr indent="-342900" lvl="0" marL="342900" rtl="0" algn="l">
              <a:spcBef>
                <a:spcPts val="1000"/>
              </a:spcBef>
              <a:spcAft>
                <a:spcPts val="0"/>
              </a:spcAft>
              <a:buSzPts val="1600"/>
              <a:buChar char="►"/>
            </a:pPr>
            <a:r>
              <a:rPr lang="en-US">
                <a:latin typeface="Times New Roman"/>
                <a:ea typeface="Times New Roman"/>
                <a:cs typeface="Times New Roman"/>
                <a:sym typeface="Times New Roman"/>
              </a:rPr>
              <a:t>Corporate Spies</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Are relatively rare</a:t>
            </a:r>
            <a:endParaRPr/>
          </a:p>
          <a:p>
            <a:pPr indent="-342900" lvl="0" marL="342900" rtl="0" algn="l">
              <a:spcBef>
                <a:spcPts val="1000"/>
              </a:spcBef>
              <a:spcAft>
                <a:spcPts val="0"/>
              </a:spcAft>
              <a:buSzPts val="1600"/>
              <a:buChar char="►"/>
            </a:pPr>
            <a:r>
              <a:rPr lang="en-US">
                <a:latin typeface="Times New Roman"/>
                <a:ea typeface="Times New Roman"/>
                <a:cs typeface="Times New Roman"/>
                <a:sym typeface="Times New Roman"/>
              </a:rPr>
              <a:t>Disgruntled Employees</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Most dangerous to an enterprise as they are “insiders”</a:t>
            </a:r>
            <a:endParaRPr/>
          </a:p>
          <a:p>
            <a:pPr indent="-285750" lvl="1" marL="742950" rtl="0" algn="l">
              <a:spcBef>
                <a:spcPts val="1000"/>
              </a:spcBef>
              <a:spcAft>
                <a:spcPts val="0"/>
              </a:spcAft>
              <a:buSzPts val="1440"/>
              <a:buChar char="►"/>
            </a:pPr>
            <a:r>
              <a:rPr lang="en-US">
                <a:latin typeface="Times New Roman"/>
                <a:ea typeface="Times New Roman"/>
                <a:cs typeface="Times New Roman"/>
                <a:sym typeface="Times New Roman"/>
              </a:rPr>
              <a:t>Since many companies subcontract their network services a disgruntled vendor could be very dangerous to the host enterprise</a:t>
            </a:r>
            <a:endParaRPr/>
          </a:p>
          <a:p>
            <a:pPr indent="-194309" lvl="1" marL="742950" rtl="0" algn="l">
              <a:spcBef>
                <a:spcPts val="1000"/>
              </a:spcBef>
              <a:spcAft>
                <a:spcPts val="0"/>
              </a:spcAft>
              <a:buSzPts val="1440"/>
              <a:buNone/>
            </a:pPr>
            <a:r>
              <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2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20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20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2000"/>
                                        <p:tgtEl>
                                          <p:spTgt spid="2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Effect filter="fade" transition="in">
                                      <p:cBhvr>
                                        <p:cTn dur="2000"/>
                                        <p:tgtEl>
                                          <p:spTgt spid="2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animEffect filter="fade" transition="in">
                                      <p:cBhvr>
                                        <p:cTn dur="2000"/>
                                        <p:tgtEl>
                                          <p:spTgt spid="2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animEffect filter="fade" transition="in">
                                      <p:cBhvr>
                                        <p:cTn dur="2000"/>
                                        <p:tgtEl>
                                          <p:spTgt spid="2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animEffect filter="fade" transition="in">
                                      <p:cBhvr>
                                        <p:cTn dur="2000"/>
                                        <p:tgtEl>
                                          <p:spTgt spid="2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animEffect filter="fade" transition="in">
                                      <p:cBhvr>
                                        <p:cTn dur="2000"/>
                                        <p:tgtEl>
                                          <p:spTgt spid="2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animEffect filter="fade" transition="in">
                                      <p:cBhvr>
                                        <p:cTn dur="2000"/>
                                        <p:tgtEl>
                                          <p:spTgt spid="26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0" st="10"/>
                                            </p:txEl>
                                          </p:spTgt>
                                        </p:tgtEl>
                                        <p:attrNameLst>
                                          <p:attrName>style.visibility</p:attrName>
                                        </p:attrNameLst>
                                      </p:cBhvr>
                                      <p:to>
                                        <p:strVal val="visible"/>
                                      </p:to>
                                    </p:set>
                                    <p:animEffect filter="fade" transition="in">
                                      <p:cBhvr>
                                        <p:cTn dur="2000"/>
                                        <p:tgtEl>
                                          <p:spTgt spid="26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p35"/>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70" name="Google Shape;270;p35"/>
          <p:cNvSpPr txBox="1"/>
          <p:nvPr>
            <p:ph type="title"/>
          </p:nvPr>
        </p:nvSpPr>
        <p:spPr>
          <a:xfrm>
            <a:off x="648931" y="629266"/>
            <a:ext cx="4166510" cy="162232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BEBEB"/>
              </a:buClr>
              <a:buSzPts val="4200"/>
              <a:buFont typeface="Century Gothic"/>
              <a:buNone/>
            </a:pPr>
            <a:r>
              <a:rPr lang="en-US">
                <a:solidFill>
                  <a:srgbClr val="EBEBEB"/>
                </a:solidFill>
              </a:rPr>
              <a:t>What is Identity Theft</a:t>
            </a:r>
            <a:endParaRPr/>
          </a:p>
        </p:txBody>
      </p:sp>
      <p:sp>
        <p:nvSpPr>
          <p:cNvPr id="271" name="Google Shape;271;p35"/>
          <p:cNvSpPr/>
          <p:nvPr/>
        </p:nvSpPr>
        <p:spPr>
          <a:xfrm>
            <a:off x="4994020"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72" name="Google Shape;272;p35"/>
          <p:cNvSpPr/>
          <p:nvPr/>
        </p:nvSpPr>
        <p:spPr>
          <a:xfrm rot="-5400000">
            <a:off x="5270819" y="-63600"/>
            <a:ext cx="6858001" cy="6985200"/>
          </a:xfrm>
          <a:custGeom>
            <a:rect b="b" l="l" r="r" t="t"/>
            <a:pathLst>
              <a:path extrusionOk="0" h="6985200" w="6858001">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chemeClr val="lt1"/>
          </a:solidFill>
          <a:ln>
            <a:noFill/>
          </a:ln>
        </p:spPr>
      </p:sp>
      <p:pic>
        <p:nvPicPr>
          <p:cNvPr id="273" name="Google Shape;273;p35"/>
          <p:cNvPicPr preferRelativeResize="0"/>
          <p:nvPr/>
        </p:nvPicPr>
        <p:blipFill rotWithShape="1">
          <a:blip r:embed="rId4">
            <a:alphaModFix/>
          </a:blip>
          <a:srcRect b="0" l="0" r="0" t="0"/>
          <a:stretch/>
        </p:blipFill>
        <p:spPr>
          <a:xfrm>
            <a:off x="6093992" y="1510921"/>
            <a:ext cx="5449889" cy="3836155"/>
          </a:xfrm>
          <a:prstGeom prst="rect">
            <a:avLst/>
          </a:prstGeom>
          <a:noFill/>
          <a:ln>
            <a:noFill/>
          </a:ln>
        </p:spPr>
      </p:pic>
      <p:sp>
        <p:nvSpPr>
          <p:cNvPr id="274" name="Google Shape;274;p35"/>
          <p:cNvSpPr/>
          <p:nvPr/>
        </p:nvSpPr>
        <p:spPr>
          <a:xfrm>
            <a:off x="10442448"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5"/>
          <p:cNvSpPr txBox="1"/>
          <p:nvPr>
            <p:ph idx="1" type="body"/>
          </p:nvPr>
        </p:nvSpPr>
        <p:spPr>
          <a:xfrm>
            <a:off x="648931" y="2438400"/>
            <a:ext cx="4166509" cy="378541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0" i="0" lang="en-US">
                <a:solidFill>
                  <a:srgbClr val="EBEBEB"/>
                </a:solidFill>
                <a:latin typeface="Arial"/>
                <a:ea typeface="Arial"/>
                <a:cs typeface="Arial"/>
                <a:sym typeface="Arial"/>
              </a:rPr>
              <a:t>when someone uses another person's personal identifying information, like their name, identifying number, or </a:t>
            </a:r>
            <a:r>
              <a:rPr b="0" i="0" lang="en-US" u="sng" strike="noStrike">
                <a:solidFill>
                  <a:schemeClr val="hlink"/>
                </a:solidFill>
                <a:latin typeface="Arial"/>
                <a:ea typeface="Arial"/>
                <a:cs typeface="Arial"/>
                <a:sym typeface="Arial"/>
                <a:hlinkClick r:id="rId5"/>
              </a:rPr>
              <a:t>credit card number</a:t>
            </a:r>
            <a:r>
              <a:rPr b="0" i="0" lang="en-US">
                <a:solidFill>
                  <a:srgbClr val="EBEBEB"/>
                </a:solidFill>
                <a:latin typeface="Arial"/>
                <a:ea typeface="Arial"/>
                <a:cs typeface="Arial"/>
                <a:sym typeface="Arial"/>
              </a:rPr>
              <a:t>, without their permission, to commit fraud or other crimes.</a:t>
            </a:r>
            <a:endParaRPr>
              <a:solidFill>
                <a:srgbClr val="EBEBEB"/>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What Thieves can do with your Identity</a:t>
            </a:r>
            <a:endParaRPr/>
          </a:p>
        </p:txBody>
      </p:sp>
      <p:sp>
        <p:nvSpPr>
          <p:cNvPr id="281" name="Google Shape;281;p36"/>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0" i="0" lang="en-US">
                <a:solidFill>
                  <a:srgbClr val="F9C5C4"/>
                </a:solidFill>
                <a:latin typeface="Arial"/>
                <a:ea typeface="Arial"/>
                <a:cs typeface="Arial"/>
                <a:sym typeface="Arial"/>
              </a:rPr>
              <a:t>Open new credit cards using your identifying information</a:t>
            </a:r>
            <a:r>
              <a:rPr lang="en-US">
                <a:solidFill>
                  <a:srgbClr val="F9C5C4"/>
                </a:solidFill>
              </a:rPr>
              <a:t>. </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Make unauthorized purchases using your existing credit and debit cards.</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Use your health insurance to get medical care.</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File a tax return using your Social Security number in order to claim your refund.</a:t>
            </a:r>
            <a:endParaRPr/>
          </a:p>
          <a:p>
            <a:pPr indent="-342900" lvl="0" marL="342900" rtl="0" algn="l">
              <a:spcBef>
                <a:spcPts val="1000"/>
              </a:spcBef>
              <a:spcAft>
                <a:spcPts val="0"/>
              </a:spcAft>
              <a:buSzPts val="1600"/>
              <a:buChar char="►"/>
            </a:pPr>
            <a:r>
              <a:rPr lang="en-US">
                <a:solidFill>
                  <a:srgbClr val="F9C5C4"/>
                </a:solidFill>
              </a:rPr>
              <a:t>Take Mobile connection and will uses it for illegal activity.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4200"/>
              <a:buFont typeface="Century Gothic"/>
              <a:buNone/>
            </a:pPr>
            <a:r>
              <a:rPr lang="en-US"/>
              <a:t>Types Of Fraud</a:t>
            </a:r>
            <a:endParaRPr/>
          </a:p>
        </p:txBody>
      </p:sp>
      <p:sp>
        <p:nvSpPr>
          <p:cNvPr id="287" name="Google Shape;287;p3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Credit Card</a:t>
            </a:r>
            <a:endParaRPr/>
          </a:p>
          <a:p>
            <a:pPr indent="-342900" lvl="0" marL="342900" rtl="0" algn="l">
              <a:spcBef>
                <a:spcPts val="1000"/>
              </a:spcBef>
              <a:spcAft>
                <a:spcPts val="0"/>
              </a:spcAft>
              <a:buSzPts val="1600"/>
              <a:buChar char="►"/>
            </a:pPr>
            <a:r>
              <a:rPr lang="en-US"/>
              <a:t>Phone and Utility</a:t>
            </a:r>
            <a:endParaRPr/>
          </a:p>
          <a:p>
            <a:pPr indent="-342900" lvl="0" marL="342900" rtl="0" algn="l">
              <a:spcBef>
                <a:spcPts val="1000"/>
              </a:spcBef>
              <a:spcAft>
                <a:spcPts val="0"/>
              </a:spcAft>
              <a:buSzPts val="1600"/>
              <a:buChar char="►"/>
            </a:pPr>
            <a:r>
              <a:rPr lang="en-US"/>
              <a:t>Government Doc</a:t>
            </a:r>
            <a:endParaRPr/>
          </a:p>
          <a:p>
            <a:pPr indent="-342900" lvl="0" marL="342900" rtl="0" algn="l">
              <a:spcBef>
                <a:spcPts val="1000"/>
              </a:spcBef>
              <a:spcAft>
                <a:spcPts val="0"/>
              </a:spcAft>
              <a:buSzPts val="1600"/>
              <a:buChar char="►"/>
            </a:pPr>
            <a:r>
              <a:rPr lang="en-US"/>
              <a:t>Bank Fraud</a:t>
            </a:r>
            <a:endParaRPr/>
          </a:p>
          <a:p>
            <a:pPr indent="-342900" lvl="0" marL="342900" rtl="0" algn="l">
              <a:spcBef>
                <a:spcPts val="1000"/>
              </a:spcBef>
              <a:spcAft>
                <a:spcPts val="0"/>
              </a:spcAft>
              <a:buSzPts val="1600"/>
              <a:buChar char="►"/>
            </a:pPr>
            <a:r>
              <a:rPr lang="en-US"/>
              <a:t>Loan Fraud</a:t>
            </a:r>
            <a:endParaRPr/>
          </a:p>
          <a:p>
            <a:pPr indent="-342900" lvl="0" marL="342900" rtl="0" algn="l">
              <a:spcBef>
                <a:spcPts val="1000"/>
              </a:spcBef>
              <a:spcAft>
                <a:spcPts val="0"/>
              </a:spcAft>
              <a:buSzPts val="1600"/>
              <a:buChar char="►"/>
            </a:pPr>
            <a:r>
              <a:rPr lang="en-US"/>
              <a:t>Others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C000"/>
              </a:buClr>
              <a:buSzPts val="4200"/>
              <a:buFont typeface="Arial"/>
              <a:buNone/>
            </a:pPr>
            <a:r>
              <a:rPr b="0" i="0" lang="en-US">
                <a:solidFill>
                  <a:srgbClr val="FFC000"/>
                </a:solidFill>
                <a:latin typeface="Arial"/>
                <a:ea typeface="Arial"/>
                <a:cs typeface="Arial"/>
                <a:sym typeface="Arial"/>
              </a:rPr>
              <a:t>How does identity theft happen?</a:t>
            </a:r>
            <a:br>
              <a:rPr b="0" i="0" lang="en-US">
                <a:solidFill>
                  <a:srgbClr val="585858"/>
                </a:solidFill>
                <a:latin typeface="Arial"/>
                <a:ea typeface="Arial"/>
                <a:cs typeface="Arial"/>
                <a:sym typeface="Arial"/>
              </a:rPr>
            </a:br>
            <a:endParaRPr/>
          </a:p>
        </p:txBody>
      </p:sp>
      <p:sp>
        <p:nvSpPr>
          <p:cNvPr id="293" name="Google Shape;293;p38"/>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0" i="0" lang="en-US">
                <a:solidFill>
                  <a:srgbClr val="F9C5C4"/>
                </a:solidFill>
                <a:latin typeface="Arial"/>
                <a:ea typeface="Arial"/>
                <a:cs typeface="Arial"/>
                <a:sym typeface="Arial"/>
              </a:rPr>
              <a:t>Phishing </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Skimming</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Dumpster diving</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Wi-Fi hacking</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Phone scams</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Malware</a:t>
            </a:r>
            <a:endParaRPr/>
          </a:p>
          <a:p>
            <a:pPr indent="-342900" lvl="0" marL="342900" rtl="0" algn="l">
              <a:spcBef>
                <a:spcPts val="1000"/>
              </a:spcBef>
              <a:spcAft>
                <a:spcPts val="0"/>
              </a:spcAft>
              <a:buSzPts val="1600"/>
              <a:buChar char="►"/>
            </a:pPr>
            <a:r>
              <a:rPr lang="en-US">
                <a:solidFill>
                  <a:srgbClr val="F9C5C4"/>
                </a:solidFill>
                <a:latin typeface="Arial"/>
                <a:ea typeface="Arial"/>
                <a:cs typeface="Arial"/>
                <a:sym typeface="Arial"/>
              </a:rPr>
              <a:t>Shoulder Surfing</a:t>
            </a:r>
            <a:endParaRPr b="0" i="0">
              <a:solidFill>
                <a:srgbClr val="F9C5C4"/>
              </a:solidFill>
              <a:latin typeface="Arial"/>
              <a:ea typeface="Arial"/>
              <a:cs typeface="Arial"/>
              <a:sym typeface="Arial"/>
            </a:endParaRPr>
          </a:p>
          <a:p>
            <a:pPr indent="-342900" lvl="0" marL="342900" rtl="0" algn="l">
              <a:spcBef>
                <a:spcPts val="1000"/>
              </a:spcBef>
              <a:spcAft>
                <a:spcPts val="0"/>
              </a:spcAft>
              <a:buSzPts val="1600"/>
              <a:buChar char="►"/>
            </a:pPr>
            <a:r>
              <a:rPr lang="en-US">
                <a:solidFill>
                  <a:srgbClr val="F9C5C4"/>
                </a:solidFill>
              </a:rPr>
              <a:t>Impersonate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4200"/>
              <a:buFont typeface="Century Gothic"/>
              <a:buNone/>
            </a:pPr>
            <a:r>
              <a:rPr lang="en-US"/>
              <a:t>Phishing</a:t>
            </a:r>
            <a:endParaRPr/>
          </a:p>
        </p:txBody>
      </p:sp>
      <p:sp>
        <p:nvSpPr>
          <p:cNvPr id="299" name="Google Shape;299;p3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solidFill>
                  <a:srgbClr val="F9C5C4"/>
                </a:solidFill>
                <a:latin typeface="Arial"/>
                <a:ea typeface="Arial"/>
                <a:cs typeface="Arial"/>
                <a:sym typeface="Arial"/>
              </a:rPr>
              <a:t>Fruadsters</a:t>
            </a:r>
            <a:r>
              <a:rPr b="0" i="0" lang="en-US">
                <a:solidFill>
                  <a:srgbClr val="F9C5C4"/>
                </a:solidFill>
                <a:latin typeface="Arial"/>
                <a:ea typeface="Arial"/>
                <a:cs typeface="Arial"/>
                <a:sym typeface="Arial"/>
              </a:rPr>
              <a:t> send fraudulent emails or texts that may look legitimate. The links in these emails or texts may be used to download malicious software. The software may be able to mine your computer for personal information and send it to a remote computer. </a:t>
            </a:r>
            <a:endParaRPr/>
          </a:p>
          <a:p>
            <a:pPr indent="-342900" lvl="0" marL="342900" rtl="0" algn="l">
              <a:spcBef>
                <a:spcPts val="1000"/>
              </a:spcBef>
              <a:spcAft>
                <a:spcPts val="0"/>
              </a:spcAft>
              <a:buSzPts val="1600"/>
              <a:buChar char="►"/>
            </a:pPr>
            <a:r>
              <a:rPr b="0" i="0" lang="en-US">
                <a:solidFill>
                  <a:srgbClr val="F9C5C4"/>
                </a:solidFill>
                <a:latin typeface="Arial"/>
                <a:ea typeface="Arial"/>
                <a:cs typeface="Arial"/>
                <a:sym typeface="Arial"/>
              </a:rPr>
              <a:t>Cybercriminals uses this information to commit identity theft. It’s a good idea to never open suspicious-looking mails, click on links or download material</a:t>
            </a:r>
            <a:endParaRPr>
              <a:solidFill>
                <a:srgbClr val="F9C5C4"/>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3" name="Shape 303"/>
        <p:cNvGrpSpPr/>
        <p:nvPr/>
      </p:nvGrpSpPr>
      <p:grpSpPr>
        <a:xfrm>
          <a:off x="0" y="0"/>
          <a:ext cx="0" cy="0"/>
          <a:chOff x="0" y="0"/>
          <a:chExt cx="0" cy="0"/>
        </a:xfrm>
      </p:grpSpPr>
      <p:sp>
        <p:nvSpPr>
          <p:cNvPr id="304" name="Google Shape;304;p40"/>
          <p:cNvSpPr txBox="1"/>
          <p:nvPr>
            <p:ph type="title"/>
          </p:nvPr>
        </p:nvSpPr>
        <p:spPr>
          <a:xfrm>
            <a:off x="1028700" y="1967266"/>
            <a:ext cx="2628900" cy="254725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3600"/>
              <a:buFont typeface="Century Gothic"/>
              <a:buNone/>
            </a:pPr>
            <a:r>
              <a:rPr lang="en-US" sz="3600">
                <a:solidFill>
                  <a:srgbClr val="FFFFFF"/>
                </a:solidFill>
                <a:latin typeface="Century Gothic"/>
                <a:ea typeface="Century Gothic"/>
                <a:cs typeface="Century Gothic"/>
                <a:sym typeface="Century Gothic"/>
              </a:rPr>
              <a:t>Phishing </a:t>
            </a:r>
            <a:endParaRPr/>
          </a:p>
        </p:txBody>
      </p:sp>
      <p:pic>
        <p:nvPicPr>
          <p:cNvPr descr="Graphical user interface, text, application&#10;&#10;Description automatically generated" id="305" name="Google Shape;305;p40"/>
          <p:cNvPicPr preferRelativeResize="0"/>
          <p:nvPr>
            <p:ph idx="1" type="body"/>
          </p:nvPr>
        </p:nvPicPr>
        <p:blipFill rotWithShape="1">
          <a:blip r:embed="rId3">
            <a:alphaModFix/>
          </a:blip>
          <a:srcRect b="0" l="0" r="0" t="0"/>
          <a:stretch/>
        </p:blipFill>
        <p:spPr>
          <a:xfrm>
            <a:off x="4777316" y="1563144"/>
            <a:ext cx="6780700" cy="37293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9" name="Shape 309"/>
        <p:cNvGrpSpPr/>
        <p:nvPr/>
      </p:nvGrpSpPr>
      <p:grpSpPr>
        <a:xfrm>
          <a:off x="0" y="0"/>
          <a:ext cx="0" cy="0"/>
          <a:chOff x="0" y="0"/>
          <a:chExt cx="0" cy="0"/>
        </a:xfrm>
      </p:grpSpPr>
      <p:sp>
        <p:nvSpPr>
          <p:cNvPr id="310" name="Google Shape;310;p41"/>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entury Gothic"/>
              <a:buNone/>
            </a:pPr>
            <a:r>
              <a:rPr lang="en-US" sz="3200">
                <a:solidFill>
                  <a:schemeClr val="dk1"/>
                </a:solidFill>
                <a:latin typeface="Century Gothic"/>
                <a:ea typeface="Century Gothic"/>
                <a:cs typeface="Century Gothic"/>
                <a:sym typeface="Century Gothic"/>
              </a:rPr>
              <a:t>Phishing</a:t>
            </a:r>
            <a:endParaRPr/>
          </a:p>
        </p:txBody>
      </p:sp>
      <p:pic>
        <p:nvPicPr>
          <p:cNvPr descr="Graphical user interface, text, application&#10;&#10;Description automatically generated" id="311" name="Google Shape;311;p41"/>
          <p:cNvPicPr preferRelativeResize="0"/>
          <p:nvPr>
            <p:ph idx="1" type="body"/>
          </p:nvPr>
        </p:nvPicPr>
        <p:blipFill rotWithShape="1">
          <a:blip r:embed="rId3">
            <a:alphaModFix/>
          </a:blip>
          <a:srcRect b="0" l="0" r="0" t="0"/>
          <a:stretch/>
        </p:blipFill>
        <p:spPr>
          <a:xfrm>
            <a:off x="2418846" y="1675227"/>
            <a:ext cx="7354307" cy="4394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4200"/>
              <a:buFont typeface="Century Gothic"/>
              <a:buNone/>
            </a:pPr>
            <a:r>
              <a:rPr lang="en-US"/>
              <a:t>Phishing</a:t>
            </a:r>
            <a:endParaRPr/>
          </a:p>
        </p:txBody>
      </p:sp>
      <p:pic>
        <p:nvPicPr>
          <p:cNvPr id="317" name="Google Shape;317;p42"/>
          <p:cNvPicPr preferRelativeResize="0"/>
          <p:nvPr>
            <p:ph idx="1" type="body"/>
          </p:nvPr>
        </p:nvPicPr>
        <p:blipFill rotWithShape="1">
          <a:blip r:embed="rId3">
            <a:alphaModFix/>
          </a:blip>
          <a:srcRect b="0" l="0" r="0" t="0"/>
          <a:stretch/>
        </p:blipFill>
        <p:spPr>
          <a:xfrm>
            <a:off x="2047461" y="2052638"/>
            <a:ext cx="7058853" cy="41957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1" name="Shape 321"/>
        <p:cNvGrpSpPr/>
        <p:nvPr/>
      </p:nvGrpSpPr>
      <p:grpSpPr>
        <a:xfrm>
          <a:off x="0" y="0"/>
          <a:ext cx="0" cy="0"/>
          <a:chOff x="0" y="0"/>
          <a:chExt cx="0" cy="0"/>
        </a:xfrm>
      </p:grpSpPr>
      <p:pic>
        <p:nvPicPr>
          <p:cNvPr id="322" name="Google Shape;322;p43"/>
          <p:cNvPicPr preferRelativeResize="0"/>
          <p:nvPr/>
        </p:nvPicPr>
        <p:blipFill rotWithShape="1">
          <a:blip r:embed="rId3">
            <a:alphaModFix/>
          </a:blip>
          <a:srcRect b="-1" l="0" r="18461" t="0"/>
          <a:stretch/>
        </p:blipFill>
        <p:spPr>
          <a:xfrm>
            <a:off x="3522468" y="10"/>
            <a:ext cx="8669532" cy="6857990"/>
          </a:xfrm>
          <a:prstGeom prst="rect">
            <a:avLst/>
          </a:prstGeom>
          <a:noFill/>
          <a:ln>
            <a:noFill/>
          </a:ln>
        </p:spPr>
      </p:pic>
      <p:sp>
        <p:nvSpPr>
          <p:cNvPr id="323" name="Google Shape;323;p43"/>
          <p:cNvSpPr txBox="1"/>
          <p:nvPr>
            <p:ph type="title"/>
          </p:nvPr>
        </p:nvSpPr>
        <p:spPr>
          <a:xfrm>
            <a:off x="371094" y="1161288"/>
            <a:ext cx="3438144" cy="112471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2800"/>
              <a:buFont typeface="arial"/>
              <a:buNone/>
            </a:pPr>
            <a:r>
              <a:rPr b="0" i="0" lang="en-US" sz="2800">
                <a:latin typeface="arial"/>
                <a:ea typeface="arial"/>
                <a:cs typeface="arial"/>
                <a:sym typeface="arial"/>
              </a:rPr>
              <a:t>Skimming </a:t>
            </a:r>
            <a:endParaRPr sz="2800"/>
          </a:p>
        </p:txBody>
      </p:sp>
      <p:sp>
        <p:nvSpPr>
          <p:cNvPr id="324" name="Google Shape;324;p43"/>
          <p:cNvSpPr txBox="1"/>
          <p:nvPr>
            <p:ph idx="1" type="body"/>
          </p:nvPr>
        </p:nvSpPr>
        <p:spPr>
          <a:xfrm>
            <a:off x="371094" y="2718054"/>
            <a:ext cx="3438906" cy="320725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360"/>
              <a:buChar char="►"/>
            </a:pPr>
            <a:r>
              <a:rPr b="0" i="0" lang="en-US" sz="1700">
                <a:latin typeface="arial"/>
                <a:ea typeface="arial"/>
                <a:cs typeface="arial"/>
                <a:sym typeface="arial"/>
              </a:rPr>
              <a:t>Skimming </a:t>
            </a:r>
            <a:r>
              <a:rPr b="1" i="0" lang="en-US" sz="1700">
                <a:latin typeface="arial"/>
                <a:ea typeface="arial"/>
                <a:cs typeface="arial"/>
                <a:sym typeface="arial"/>
              </a:rPr>
              <a:t>occurs when devices illegally installed on ATMs, point-of-sale (POS) terminals, or fuel pumps capture data or record cardholders' PINs</a:t>
            </a:r>
            <a:r>
              <a:rPr b="0" i="0" lang="en-US" sz="1700">
                <a:latin typeface="arial"/>
                <a:ea typeface="arial"/>
                <a:cs typeface="arial"/>
                <a:sym typeface="arial"/>
              </a:rPr>
              <a:t>. Criminals use the data to create fake debit or credit cards and then steal from victims' accounts.</a:t>
            </a:r>
            <a:endParaRPr/>
          </a:p>
          <a:p>
            <a:pPr indent="0" lvl="0" marL="0" rtl="0" algn="l">
              <a:spcBef>
                <a:spcPts val="1000"/>
              </a:spcBef>
              <a:spcAft>
                <a:spcPts val="0"/>
              </a:spcAft>
              <a:buSzPts val="1360"/>
              <a:buNone/>
            </a:pPr>
            <a:r>
              <a:t/>
            </a:r>
            <a:endParaRPr sz="1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4200"/>
              <a:buFont typeface="Century Gothic"/>
              <a:buNone/>
            </a:pPr>
            <a:r>
              <a:rPr lang="en-US"/>
              <a:t>Dumpster Diving</a:t>
            </a:r>
            <a:endParaRPr/>
          </a:p>
        </p:txBody>
      </p:sp>
      <p:pic>
        <p:nvPicPr>
          <p:cNvPr id="330" name="Google Shape;330;p44"/>
          <p:cNvPicPr preferRelativeResize="0"/>
          <p:nvPr>
            <p:ph idx="1" type="body"/>
          </p:nvPr>
        </p:nvPicPr>
        <p:blipFill rotWithShape="1">
          <a:blip r:embed="rId3">
            <a:alphaModFix/>
          </a:blip>
          <a:srcRect b="0" l="0" r="0" t="0"/>
          <a:stretch/>
        </p:blipFill>
        <p:spPr>
          <a:xfrm>
            <a:off x="2578903" y="2052638"/>
            <a:ext cx="5995970" cy="41957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34" name="Shape 334"/>
        <p:cNvGrpSpPr/>
        <p:nvPr/>
      </p:nvGrpSpPr>
      <p:grpSpPr>
        <a:xfrm>
          <a:off x="0" y="0"/>
          <a:ext cx="0" cy="0"/>
          <a:chOff x="0" y="0"/>
          <a:chExt cx="0" cy="0"/>
        </a:xfrm>
      </p:grpSpPr>
      <p:sp>
        <p:nvSpPr>
          <p:cNvPr id="335" name="Google Shape;335;p45"/>
          <p:cNvSpPr txBox="1"/>
          <p:nvPr>
            <p:ph type="title"/>
          </p:nvPr>
        </p:nvSpPr>
        <p:spPr>
          <a:xfrm>
            <a:off x="833002" y="448253"/>
            <a:ext cx="10520702" cy="1325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Wi-Fi Hacking</a:t>
            </a:r>
            <a:endParaRPr/>
          </a:p>
        </p:txBody>
      </p:sp>
      <p:sp>
        <p:nvSpPr>
          <p:cNvPr id="336" name="Google Shape;336;p45"/>
          <p:cNvSpPr txBox="1"/>
          <p:nvPr>
            <p:ph idx="1" type="body"/>
          </p:nvPr>
        </p:nvSpPr>
        <p:spPr>
          <a:xfrm>
            <a:off x="838200" y="2191807"/>
            <a:ext cx="4936067" cy="398515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0" i="0" lang="en-US" sz="2000">
                <a:latin typeface="Arial"/>
                <a:ea typeface="Arial"/>
                <a:cs typeface="Arial"/>
                <a:sym typeface="Arial"/>
              </a:rPr>
              <a:t>Some public Wi-Fi connections are unencrypted. This could give criminals a chance to snoop on data traveling to and from your device. If your device has software vulnerabilities, cybercriminals may be able to inject malware to help them gain access to your data.</a:t>
            </a:r>
            <a:endParaRPr/>
          </a:p>
          <a:p>
            <a:pPr indent="-241300" lvl="0" marL="342900" rtl="0" algn="l">
              <a:spcBef>
                <a:spcPts val="1000"/>
              </a:spcBef>
              <a:spcAft>
                <a:spcPts val="0"/>
              </a:spcAft>
              <a:buSzPts val="1600"/>
              <a:buNone/>
            </a:pPr>
            <a:r>
              <a:t/>
            </a:r>
            <a:endParaRPr sz="2000">
              <a:latin typeface="Arial"/>
              <a:ea typeface="Arial"/>
              <a:cs typeface="Arial"/>
              <a:sym typeface="Arial"/>
            </a:endParaRPr>
          </a:p>
          <a:p>
            <a:pPr indent="-241300" lvl="0" marL="342900" rtl="0" algn="l">
              <a:spcBef>
                <a:spcPts val="1000"/>
              </a:spcBef>
              <a:spcAft>
                <a:spcPts val="0"/>
              </a:spcAft>
              <a:buSzPts val="1600"/>
              <a:buNone/>
            </a:pPr>
            <a:r>
              <a:t/>
            </a:r>
            <a:endParaRPr sz="2000"/>
          </a:p>
        </p:txBody>
      </p:sp>
      <p:pic>
        <p:nvPicPr>
          <p:cNvPr descr="A blue and red logo&#10;&#10;Description automatically generated with low confidence" id="337" name="Google Shape;337;p45"/>
          <p:cNvPicPr preferRelativeResize="0"/>
          <p:nvPr/>
        </p:nvPicPr>
        <p:blipFill rotWithShape="1">
          <a:blip r:embed="rId3">
            <a:alphaModFix/>
          </a:blip>
          <a:srcRect b="0" l="0" r="0" t="0"/>
          <a:stretch/>
        </p:blipFill>
        <p:spPr>
          <a:xfrm>
            <a:off x="6417734" y="2999752"/>
            <a:ext cx="4935970" cy="236926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41" name="Shape 341"/>
        <p:cNvGrpSpPr/>
        <p:nvPr/>
      </p:nvGrpSpPr>
      <p:grpSpPr>
        <a:xfrm>
          <a:off x="0" y="0"/>
          <a:ext cx="0" cy="0"/>
          <a:chOff x="0" y="0"/>
          <a:chExt cx="0" cy="0"/>
        </a:xfrm>
      </p:grpSpPr>
      <p:sp>
        <p:nvSpPr>
          <p:cNvPr id="342" name="Google Shape;342;p46"/>
          <p:cNvSpPr txBox="1"/>
          <p:nvPr>
            <p:ph type="title"/>
          </p:nvPr>
        </p:nvSpPr>
        <p:spPr>
          <a:xfrm>
            <a:off x="833002" y="448253"/>
            <a:ext cx="10520702" cy="1325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Phone Scams</a:t>
            </a:r>
            <a:endParaRPr/>
          </a:p>
        </p:txBody>
      </p:sp>
      <p:sp>
        <p:nvSpPr>
          <p:cNvPr id="343" name="Google Shape;343;p46"/>
          <p:cNvSpPr txBox="1"/>
          <p:nvPr>
            <p:ph idx="1" type="body"/>
          </p:nvPr>
        </p:nvSpPr>
        <p:spPr>
          <a:xfrm>
            <a:off x="838200" y="2191807"/>
            <a:ext cx="4936067" cy="398515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0" i="0" lang="en-US" sz="2000">
                <a:latin typeface="Arial"/>
                <a:ea typeface="Arial"/>
                <a:cs typeface="Arial"/>
                <a:sym typeface="Arial"/>
              </a:rPr>
              <a:t>Fraudsters may call you on the phone, claiming to be from a bank. If you receive this kind of call, don’t provide any information over the phone.</a:t>
            </a:r>
            <a:endParaRPr/>
          </a:p>
          <a:p>
            <a:pPr indent="-241300" lvl="0" marL="342900" rtl="0" algn="l">
              <a:spcBef>
                <a:spcPts val="1000"/>
              </a:spcBef>
              <a:spcAft>
                <a:spcPts val="0"/>
              </a:spcAft>
              <a:buSzPts val="1600"/>
              <a:buNone/>
            </a:pPr>
            <a:r>
              <a:t/>
            </a:r>
            <a:endParaRPr sz="2000">
              <a:latin typeface="Arial"/>
              <a:ea typeface="Arial"/>
              <a:cs typeface="Arial"/>
              <a:sym typeface="Arial"/>
            </a:endParaRPr>
          </a:p>
          <a:p>
            <a:pPr indent="-241300" lvl="0" marL="342900" rtl="0" algn="l">
              <a:spcBef>
                <a:spcPts val="1000"/>
              </a:spcBef>
              <a:spcAft>
                <a:spcPts val="0"/>
              </a:spcAft>
              <a:buSzPts val="1600"/>
              <a:buNone/>
            </a:pPr>
            <a:r>
              <a:t/>
            </a:r>
            <a:endParaRPr sz="2000"/>
          </a:p>
        </p:txBody>
      </p:sp>
      <p:pic>
        <p:nvPicPr>
          <p:cNvPr id="344" name="Google Shape;344;p46"/>
          <p:cNvPicPr preferRelativeResize="0"/>
          <p:nvPr/>
        </p:nvPicPr>
        <p:blipFill rotWithShape="1">
          <a:blip r:embed="rId3">
            <a:alphaModFix/>
          </a:blip>
          <a:srcRect b="0" l="0" r="0" t="0"/>
          <a:stretch/>
        </p:blipFill>
        <p:spPr>
          <a:xfrm>
            <a:off x="6417734" y="2669940"/>
            <a:ext cx="4935970" cy="302889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48" name="Shape 348"/>
        <p:cNvGrpSpPr/>
        <p:nvPr/>
      </p:nvGrpSpPr>
      <p:grpSpPr>
        <a:xfrm>
          <a:off x="0" y="0"/>
          <a:ext cx="0" cy="0"/>
          <a:chOff x="0" y="0"/>
          <a:chExt cx="0" cy="0"/>
        </a:xfrm>
      </p:grpSpPr>
      <p:sp>
        <p:nvSpPr>
          <p:cNvPr id="349" name="Google Shape;349;p47"/>
          <p:cNvSpPr txBox="1"/>
          <p:nvPr>
            <p:ph type="title"/>
          </p:nvPr>
        </p:nvSpPr>
        <p:spPr>
          <a:xfrm>
            <a:off x="833002" y="448253"/>
            <a:ext cx="10520702" cy="1325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MalWare</a:t>
            </a:r>
            <a:endParaRPr/>
          </a:p>
        </p:txBody>
      </p:sp>
      <p:sp>
        <p:nvSpPr>
          <p:cNvPr id="350" name="Google Shape;350;p47"/>
          <p:cNvSpPr txBox="1"/>
          <p:nvPr>
            <p:ph idx="1" type="body"/>
          </p:nvPr>
        </p:nvSpPr>
        <p:spPr>
          <a:xfrm>
            <a:off x="838200" y="2191807"/>
            <a:ext cx="4936067" cy="398515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2000">
                <a:latin typeface="Arial"/>
                <a:ea typeface="Arial"/>
                <a:cs typeface="Arial"/>
                <a:sym typeface="Arial"/>
              </a:rPr>
              <a:t>Fraudsters </a:t>
            </a:r>
            <a:r>
              <a:rPr b="0" i="0" lang="en-US" sz="2000">
                <a:latin typeface="Arial"/>
                <a:ea typeface="Arial"/>
                <a:cs typeface="Arial"/>
                <a:sym typeface="Arial"/>
              </a:rPr>
              <a:t>use different techniques to install malware on another person's device. Malware could allow the criminal to access the device and information stored on it. Malware types include viruses, spyware, trojans, keyloggers.</a:t>
            </a:r>
            <a:endParaRPr/>
          </a:p>
          <a:p>
            <a:pPr indent="-241300" lvl="0" marL="342900" rtl="0" algn="l">
              <a:spcBef>
                <a:spcPts val="1000"/>
              </a:spcBef>
              <a:spcAft>
                <a:spcPts val="0"/>
              </a:spcAft>
              <a:buSzPts val="1600"/>
              <a:buNone/>
            </a:pPr>
            <a:r>
              <a:t/>
            </a:r>
            <a:endParaRPr sz="2000">
              <a:latin typeface="Arial"/>
              <a:ea typeface="Arial"/>
              <a:cs typeface="Arial"/>
              <a:sym typeface="Arial"/>
            </a:endParaRPr>
          </a:p>
          <a:p>
            <a:pPr indent="-241300" lvl="0" marL="342900" rtl="0" algn="l">
              <a:spcBef>
                <a:spcPts val="1000"/>
              </a:spcBef>
              <a:spcAft>
                <a:spcPts val="0"/>
              </a:spcAft>
              <a:buSzPts val="1600"/>
              <a:buNone/>
            </a:pPr>
            <a:r>
              <a:t/>
            </a:r>
            <a:endParaRPr b="0" i="0" sz="2000">
              <a:latin typeface="Arial"/>
              <a:ea typeface="Arial"/>
              <a:cs typeface="Arial"/>
              <a:sym typeface="Arial"/>
            </a:endParaRPr>
          </a:p>
          <a:p>
            <a:pPr indent="-241300" lvl="0" marL="342900" rtl="0" algn="l">
              <a:spcBef>
                <a:spcPts val="1000"/>
              </a:spcBef>
              <a:spcAft>
                <a:spcPts val="0"/>
              </a:spcAft>
              <a:buSzPts val="1600"/>
              <a:buNone/>
            </a:pPr>
            <a:r>
              <a:t/>
            </a:r>
            <a:endParaRPr sz="2000">
              <a:latin typeface="Arial"/>
              <a:ea typeface="Arial"/>
              <a:cs typeface="Arial"/>
              <a:sym typeface="Arial"/>
            </a:endParaRPr>
          </a:p>
          <a:p>
            <a:pPr indent="-241300" lvl="0" marL="342900" rtl="0" algn="l">
              <a:spcBef>
                <a:spcPts val="1000"/>
              </a:spcBef>
              <a:spcAft>
                <a:spcPts val="0"/>
              </a:spcAft>
              <a:buSzPts val="1600"/>
              <a:buNone/>
            </a:pPr>
            <a:r>
              <a:t/>
            </a:r>
            <a:endParaRPr sz="2000"/>
          </a:p>
        </p:txBody>
      </p:sp>
      <p:pic>
        <p:nvPicPr>
          <p:cNvPr descr="Graphical user interface&#10;&#10;Description automatically generated" id="351" name="Google Shape;351;p47"/>
          <p:cNvPicPr preferRelativeResize="0"/>
          <p:nvPr/>
        </p:nvPicPr>
        <p:blipFill rotWithShape="1">
          <a:blip r:embed="rId3">
            <a:alphaModFix/>
          </a:blip>
          <a:srcRect b="0" l="0" r="0" t="0"/>
          <a:stretch/>
        </p:blipFill>
        <p:spPr>
          <a:xfrm>
            <a:off x="6417734" y="3215701"/>
            <a:ext cx="4935970" cy="193736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5" name="Shape 355"/>
        <p:cNvGrpSpPr/>
        <p:nvPr/>
      </p:nvGrpSpPr>
      <p:grpSpPr>
        <a:xfrm>
          <a:off x="0" y="0"/>
          <a:ext cx="0" cy="0"/>
          <a:chOff x="0" y="0"/>
          <a:chExt cx="0" cy="0"/>
        </a:xfrm>
      </p:grpSpPr>
      <p:sp>
        <p:nvSpPr>
          <p:cNvPr id="356" name="Google Shape;356;p48"/>
          <p:cNvSpPr txBox="1"/>
          <p:nvPr>
            <p:ph type="title"/>
          </p:nvPr>
        </p:nvSpPr>
        <p:spPr>
          <a:xfrm>
            <a:off x="9093496" y="618681"/>
            <a:ext cx="2613872" cy="479456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3600"/>
              <a:buFont typeface="Century Gothic"/>
              <a:buNone/>
            </a:pPr>
            <a:r>
              <a:rPr lang="en-US" sz="3600">
                <a:solidFill>
                  <a:srgbClr val="FFFFFF"/>
                </a:solidFill>
              </a:rPr>
              <a:t>Shoulder Surfing</a:t>
            </a:r>
            <a:endParaRPr/>
          </a:p>
        </p:txBody>
      </p:sp>
      <p:pic>
        <p:nvPicPr>
          <p:cNvPr descr="A person standing next to a person sitting at a table with a computer&#10;&#10;Description automatically generated with low confidence" id="357" name="Google Shape;357;p48"/>
          <p:cNvPicPr preferRelativeResize="0"/>
          <p:nvPr>
            <p:ph idx="1" type="body"/>
          </p:nvPr>
        </p:nvPicPr>
        <p:blipFill rotWithShape="1">
          <a:blip r:embed="rId3">
            <a:alphaModFix/>
          </a:blip>
          <a:srcRect b="-2" l="0" r="929" t="0"/>
          <a:stretch/>
        </p:blipFill>
        <p:spPr>
          <a:xfrm>
            <a:off x="976251" y="942538"/>
            <a:ext cx="7163222" cy="480833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61" name="Shape 361"/>
        <p:cNvGrpSpPr/>
        <p:nvPr/>
      </p:nvGrpSpPr>
      <p:grpSpPr>
        <a:xfrm>
          <a:off x="0" y="0"/>
          <a:ext cx="0" cy="0"/>
          <a:chOff x="0" y="0"/>
          <a:chExt cx="0" cy="0"/>
        </a:xfrm>
      </p:grpSpPr>
      <p:sp>
        <p:nvSpPr>
          <p:cNvPr id="362" name="Google Shape;362;p49"/>
          <p:cNvSpPr txBox="1"/>
          <p:nvPr>
            <p:ph type="title"/>
          </p:nvPr>
        </p:nvSpPr>
        <p:spPr>
          <a:xfrm>
            <a:off x="833002" y="448253"/>
            <a:ext cx="10520702" cy="1325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Impersonation</a:t>
            </a:r>
            <a:endParaRPr/>
          </a:p>
        </p:txBody>
      </p:sp>
      <p:sp>
        <p:nvSpPr>
          <p:cNvPr id="363" name="Google Shape;363;p49"/>
          <p:cNvSpPr txBox="1"/>
          <p:nvPr>
            <p:ph idx="1" type="body"/>
          </p:nvPr>
        </p:nvSpPr>
        <p:spPr>
          <a:xfrm>
            <a:off x="838200" y="2191807"/>
            <a:ext cx="4936067" cy="398515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2000">
                <a:latin typeface="Arial"/>
                <a:ea typeface="Arial"/>
                <a:cs typeface="Arial"/>
                <a:sym typeface="Arial"/>
              </a:rPr>
              <a:t>Creating a fake identity or using someone else’s name may be easier than ever before, thanks to the internet. Impersonation fraudsters take advantage of all the information available on the web to commit identity scams, for example by pretending to be someone else on social media.</a:t>
            </a:r>
            <a:endParaRPr/>
          </a:p>
          <a:p>
            <a:pPr indent="-241300" lvl="0" marL="342900" rtl="0" algn="l">
              <a:spcBef>
                <a:spcPts val="1000"/>
              </a:spcBef>
              <a:spcAft>
                <a:spcPts val="0"/>
              </a:spcAft>
              <a:buSzPts val="1600"/>
              <a:buNone/>
            </a:pPr>
            <a:r>
              <a:t/>
            </a:r>
            <a:endParaRPr sz="2000"/>
          </a:p>
        </p:txBody>
      </p:sp>
      <p:pic>
        <p:nvPicPr>
          <p:cNvPr descr="A person with his hand on his head&#10;&#10;Description automatically generated with low confidence" id="364" name="Google Shape;364;p49"/>
          <p:cNvPicPr preferRelativeResize="0"/>
          <p:nvPr/>
        </p:nvPicPr>
        <p:blipFill rotWithShape="1">
          <a:blip r:embed="rId3">
            <a:alphaModFix/>
          </a:blip>
          <a:srcRect b="0" l="9426" r="10925" t="0"/>
          <a:stretch/>
        </p:blipFill>
        <p:spPr>
          <a:xfrm>
            <a:off x="6689112" y="2191807"/>
            <a:ext cx="4393213" cy="398515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