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0A9444-0610-4373-9FDD-80B078B701CA}">
          <p14:sldIdLst>
            <p14:sldId id="256"/>
            <p14:sldId id="267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394C"/>
    <a:srgbClr val="0F3A4E"/>
    <a:srgbClr val="79A3FF"/>
    <a:srgbClr val="E4E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8" d="100"/>
          <a:sy n="68" d="100"/>
        </p:scale>
        <p:origin x="8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515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622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9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22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3759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975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129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2769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608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664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9093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1928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4712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9643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7649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8005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6312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EFFEFD9-EA42-47D4-92F4-74C233FF50CF}" type="datetimeFigureOut">
              <a:rPr lang="en-ID" smtClean="0"/>
              <a:t>15/04/2023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F57CC27-FB01-40C4-B134-FBD97080E39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1342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15.svg"/><Relationship Id="rId7" Type="http://schemas.openxmlformats.org/officeDocument/2006/relationships/image" Target="../media/image19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webp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eg"/><Relationship Id="rId4" Type="http://schemas.openxmlformats.org/officeDocument/2006/relationships/image" Target="../media/image2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web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75646E-8A69-2395-52DF-A05F29164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2173" y="4964384"/>
            <a:ext cx="8547652" cy="113968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  <a:latin typeface="Bahnschrift SemiBold" panose="020B0502040204020203" pitchFamily="34" charset="0"/>
              </a:rPr>
              <a:t>ROADMAP BUG HUNTER FOR BEGINNER</a:t>
            </a:r>
            <a:endParaRPr lang="en-ID" sz="3600" b="1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95E55DC-F6A7-9B68-2CE1-1D75D0BD8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2957" y="303758"/>
            <a:ext cx="5946085" cy="594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6013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75646E-8A69-2395-52DF-A05F29164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5948" y="637972"/>
            <a:ext cx="9488554" cy="895967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FF0000"/>
                </a:solidFill>
                <a:highlight>
                  <a:srgbClr val="000000"/>
                </a:highlight>
                <a:latin typeface="Bahnschrift SemiBold" panose="020B0502040204020203" pitchFamily="34" charset="0"/>
              </a:rPr>
              <a:t>DISCLAIMER !!!!!!!!!!!!!!!</a:t>
            </a:r>
            <a:endParaRPr lang="en-ID" sz="7200" b="1" dirty="0">
              <a:solidFill>
                <a:srgbClr val="FF0000"/>
              </a:solidFill>
              <a:highlight>
                <a:srgbClr val="000000"/>
              </a:highlight>
              <a:latin typeface="Bahnschrift SemiBold" panose="020B0502040204020203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45AF2F-7E36-CCEB-633A-FE9F4E07A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0" y="177662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21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 advClick="0">
        <p15:prstTrans prst="curtains"/>
      </p:transition>
    </mc:Choice>
    <mc:Fallback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2CFB7C3-A4B2-0C47-A862-7BA2C7D86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8539" y="2588465"/>
            <a:ext cx="4004492" cy="40044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D4CDD78-AA0A-8E7B-DF4E-04C181376F5B}"/>
              </a:ext>
            </a:extLst>
          </p:cNvPr>
          <p:cNvSpPr txBox="1"/>
          <p:nvPr/>
        </p:nvSpPr>
        <p:spPr>
          <a:xfrm>
            <a:off x="609599" y="450574"/>
            <a:ext cx="6276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Berlin Sans FB Demi" panose="020E0802020502020306" pitchFamily="34" charset="0"/>
              </a:rPr>
              <a:t>LANGKAH AWAL</a:t>
            </a:r>
            <a:endParaRPr lang="en-ID" sz="6000" b="1" dirty="0">
              <a:latin typeface="Berlin Sans FB Demi" panose="020E0802020502020306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A517A4-E427-D7AA-03AD-6DCD4C96BC2E}"/>
              </a:ext>
            </a:extLst>
          </p:cNvPr>
          <p:cNvSpPr txBox="1"/>
          <p:nvPr/>
        </p:nvSpPr>
        <p:spPr>
          <a:xfrm>
            <a:off x="609599" y="1722527"/>
            <a:ext cx="98949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+mj-lt"/>
              </a:rPr>
              <a:t>MENGETAHUI SERTA MEMPELAJARI JENIS </a:t>
            </a:r>
            <a:r>
              <a:rPr lang="en-US" sz="2800" b="1" dirty="0" err="1">
                <a:latin typeface="+mj-lt"/>
              </a:rPr>
              <a:t>JENIS</a:t>
            </a:r>
            <a:r>
              <a:rPr lang="en-US" sz="2800" b="1" dirty="0">
                <a:latin typeface="+mj-lt"/>
              </a:rPr>
              <a:t> </a:t>
            </a:r>
          </a:p>
          <a:p>
            <a:r>
              <a:rPr lang="en-US" sz="2800" b="1" dirty="0">
                <a:latin typeface="+mj-lt"/>
              </a:rPr>
              <a:t>BUG / CELAH KEAMANAN DAN CARA KERJA EXPLOITASINYA,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EADF0F-FDA0-D81B-8155-758137FB2F98}"/>
              </a:ext>
            </a:extLst>
          </p:cNvPr>
          <p:cNvSpPr txBox="1"/>
          <p:nvPr/>
        </p:nvSpPr>
        <p:spPr>
          <a:xfrm>
            <a:off x="609599" y="2869035"/>
            <a:ext cx="71821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MENGGUNAKAN ALAT / TOOLS PEMBANTU</a:t>
            </a:r>
          </a:p>
          <a:p>
            <a:r>
              <a:rPr lang="en-US" sz="2800" b="1" dirty="0">
                <a:latin typeface="+mj-lt"/>
              </a:rPr>
              <a:t>UNTUK MENDAPATKAN INFORMASI WEB</a:t>
            </a:r>
          </a:p>
          <a:p>
            <a:r>
              <a:rPr lang="en-US" sz="2800" b="1" dirty="0">
                <a:latin typeface="+mj-lt"/>
              </a:rPr>
              <a:t>DAN MENGIDENTIFIKASI KERENTANAN.</a:t>
            </a:r>
          </a:p>
        </p:txBody>
      </p:sp>
    </p:spTree>
    <p:extLst>
      <p:ext uri="{BB962C8B-B14F-4D97-AF65-F5344CB8AC3E}">
        <p14:creationId xmlns:p14="http://schemas.microsoft.com/office/powerpoint/2010/main" val="857486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>
        <p14:ferris dir="l"/>
      </p:transition>
    </mc:Choice>
    <mc:Fallback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55E438A1-2CFF-EEDB-3DC7-4E2BB4FAF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879" y="2728416"/>
            <a:ext cx="3900700" cy="3900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740206" y="166221"/>
            <a:ext cx="107115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Berlin Sans FB Demi" panose="020E0802020502020306" pitchFamily="34" charset="0"/>
              </a:rPr>
              <a:t>JENIS </a:t>
            </a:r>
            <a:r>
              <a:rPr lang="en-US" sz="4800" b="1" dirty="0" err="1">
                <a:latin typeface="Berlin Sans FB Demi" panose="020E0802020502020306" pitchFamily="34" charset="0"/>
              </a:rPr>
              <a:t>JENIS</a:t>
            </a:r>
            <a:r>
              <a:rPr lang="en-US" sz="4800" b="1" dirty="0">
                <a:latin typeface="Berlin Sans FB Demi" panose="020E0802020502020306" pitchFamily="34" charset="0"/>
              </a:rPr>
              <a:t> BUG / CELAH KEAMANAN</a:t>
            </a:r>
            <a:endParaRPr lang="en-ID" sz="4800" b="1" dirty="0">
              <a:latin typeface="Berlin Sans FB Demi" panose="020E0802020502020306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BE87F9-971D-1C95-C47F-9354E35B1CC9}"/>
              </a:ext>
            </a:extLst>
          </p:cNvPr>
          <p:cNvSpPr txBox="1"/>
          <p:nvPr/>
        </p:nvSpPr>
        <p:spPr>
          <a:xfrm>
            <a:off x="4518988" y="997218"/>
            <a:ext cx="741880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XSS ( REFLECTED, STORED, DOM, BLIND )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INJECTION ( SQL, SST, LDAP, CRLF,XML )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RCE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LFI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SSRF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IDOR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CSRF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CORS</a:t>
            </a:r>
          </a:p>
          <a:p>
            <a:pPr marL="1143000" indent="-1143000">
              <a:buAutoNum type="arabicPeriod"/>
            </a:pPr>
            <a:r>
              <a:rPr lang="en-US" sz="2400" b="1" dirty="0">
                <a:latin typeface="+mj-lt"/>
              </a:rPr>
              <a:t>BROKEN AUTHENTICATION</a:t>
            </a:r>
          </a:p>
          <a:p>
            <a:pPr marL="1143000" indent="-1143000">
              <a:buAutoNum type="arabicPeriod"/>
            </a:pPr>
            <a:r>
              <a:rPr lang="en-ID" sz="2400" b="1" i="1" dirty="0"/>
              <a:t>SECURITY MISCONFIGURATION</a:t>
            </a:r>
          </a:p>
          <a:p>
            <a:pPr marL="1143000" indent="-1143000">
              <a:buFontTx/>
              <a:buAutoNum type="arabicPeriod"/>
            </a:pPr>
            <a:r>
              <a:rPr lang="en-ID" sz="2400" b="1" i="1" dirty="0"/>
              <a:t>SENSITIVE DATA EXPOSURE</a:t>
            </a:r>
          </a:p>
          <a:p>
            <a:pPr marL="1143000" indent="-1143000">
              <a:buFontTx/>
              <a:buAutoNum type="arabicPeriod"/>
            </a:pPr>
            <a:r>
              <a:rPr lang="en-ID" sz="2400" b="1" i="1" dirty="0"/>
              <a:t>OPEN REDIRECT</a:t>
            </a:r>
          </a:p>
          <a:p>
            <a:pPr marL="1143000" indent="-1143000">
              <a:buFontTx/>
              <a:buAutoNum type="arabicPeriod"/>
            </a:pPr>
            <a:r>
              <a:rPr lang="en-ID" sz="2400" b="1" i="1" dirty="0"/>
              <a:t>NO RATE LIMIT</a:t>
            </a:r>
          </a:p>
          <a:p>
            <a:pPr marL="1143000" indent="-1143000">
              <a:buFontTx/>
              <a:buAutoNum type="arabicPeriod"/>
            </a:pPr>
            <a:r>
              <a:rPr lang="en-ID" sz="2400" b="1" i="1" dirty="0"/>
              <a:t>HTTP REQUEST SMUGGLING</a:t>
            </a:r>
          </a:p>
          <a:p>
            <a:pPr marL="1143000" indent="-1143000">
              <a:buFontTx/>
              <a:buAutoNum type="arabicPeriod"/>
            </a:pPr>
            <a:r>
              <a:rPr lang="en-ID" sz="2400" b="1" i="1" dirty="0"/>
              <a:t>WEB CACHE POISONING</a:t>
            </a:r>
          </a:p>
          <a:p>
            <a:pPr marL="1143000" indent="-1143000">
              <a:buFontTx/>
              <a:buAutoNum type="arabicPeriod"/>
            </a:pPr>
            <a:endParaRPr lang="en-ID" sz="2400" b="1" dirty="0"/>
          </a:p>
        </p:txBody>
      </p:sp>
    </p:spTree>
    <p:extLst>
      <p:ext uri="{BB962C8B-B14F-4D97-AF65-F5344CB8AC3E}">
        <p14:creationId xmlns:p14="http://schemas.microsoft.com/office/powerpoint/2010/main" val="1541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190091" y="136412"/>
            <a:ext cx="88713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Berlin Sans FB Demi" panose="020E0802020502020306" pitchFamily="34" charset="0"/>
              </a:rPr>
              <a:t>ALAT ATAU TOOLS PEMBANTU</a:t>
            </a:r>
            <a:endParaRPr lang="en-ID" sz="4800" b="1" dirty="0">
              <a:latin typeface="Berlin Sans FB Demi" panose="020E0802020502020306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BE87F9-971D-1C95-C47F-9354E35B1CC9}"/>
              </a:ext>
            </a:extLst>
          </p:cNvPr>
          <p:cNvSpPr txBox="1"/>
          <p:nvPr/>
        </p:nvSpPr>
        <p:spPr>
          <a:xfrm>
            <a:off x="585055" y="1015821"/>
            <a:ext cx="74188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Tx/>
              <a:buAutoNum type="arabicPeriod"/>
            </a:pPr>
            <a:r>
              <a:rPr lang="en-US" sz="2400" b="1" dirty="0"/>
              <a:t>WAPPALYZER ( ADDONS )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BURPSUITE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NMAP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METASPLOIT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DIRSEARCH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SQLMAP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NUCLEI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PARAMSPIDER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NIKTO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XSSTRIKE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DALFOX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AFROG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SHODAN ( ADDONS )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WHOIS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COMMIX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511EAC-45E0-B552-791F-3F59154DA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7558" y="3269396"/>
            <a:ext cx="4730231" cy="33787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6A1DC1-9A1D-38EA-E1E2-53CDF5BDF2C9}"/>
              </a:ext>
            </a:extLst>
          </p:cNvPr>
          <p:cNvSpPr txBox="1"/>
          <p:nvPr/>
        </p:nvSpPr>
        <p:spPr>
          <a:xfrm>
            <a:off x="7207558" y="1939683"/>
            <a:ext cx="4139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Tx/>
              <a:buAutoNum type="arabicPeriod"/>
            </a:pPr>
            <a:r>
              <a:rPr lang="en-US" sz="2400" b="1" dirty="0"/>
              <a:t>HACKBAR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SANDRO PROXY</a:t>
            </a:r>
          </a:p>
          <a:p>
            <a:pPr marL="1143000" indent="-1143000">
              <a:buFontTx/>
              <a:buAutoNum type="arabicPeriod"/>
            </a:pPr>
            <a:r>
              <a:rPr lang="en-US" sz="2400" b="1" dirty="0"/>
              <a:t>TERMUX</a:t>
            </a:r>
            <a:endParaRPr lang="en-ID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619E3E-9711-8026-D6D8-56F09721687C}"/>
              </a:ext>
            </a:extLst>
          </p:cNvPr>
          <p:cNvSpPr txBox="1"/>
          <p:nvPr/>
        </p:nvSpPr>
        <p:spPr>
          <a:xfrm>
            <a:off x="7207558" y="1290216"/>
            <a:ext cx="2148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erlin Sans FB Demi" panose="020E0802020502020306" pitchFamily="34" charset="0"/>
              </a:rPr>
              <a:t>ANDROID</a:t>
            </a:r>
            <a:endParaRPr lang="en-ID" sz="3200" b="1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366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6736664" y="96656"/>
            <a:ext cx="53222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Berlin Sans FB Demi" panose="020E0802020502020306" pitchFamily="34" charset="0"/>
              </a:rPr>
              <a:t>LANGKAH KEDUA</a:t>
            </a:r>
            <a:endParaRPr lang="en-ID" sz="4800" b="1" dirty="0">
              <a:latin typeface="Berlin Sans FB Demi" panose="020E0802020502020306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EDE6F5C-9592-F808-A85B-1DDB4CC9DF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091" y="3342007"/>
            <a:ext cx="5069371" cy="3379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8D37FB-C540-44C3-4FBE-43D9D24876A1}"/>
              </a:ext>
            </a:extLst>
          </p:cNvPr>
          <p:cNvSpPr txBox="1"/>
          <p:nvPr/>
        </p:nvSpPr>
        <p:spPr>
          <a:xfrm>
            <a:off x="207184" y="1396788"/>
            <a:ext cx="118517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+mj-lt"/>
              </a:rPr>
              <a:t>MELAKUKAN PRAKTEK LANGSUNG PADA VULNERABILITY APPLICATION</a:t>
            </a:r>
          </a:p>
          <a:p>
            <a:r>
              <a:rPr lang="en-US" sz="2800" b="1" dirty="0">
                <a:latin typeface="+mj-lt"/>
              </a:rPr>
              <a:t>ATAU WEBSITE LEGAL YANG SUDAH MEMBERIKAN IZIN </a:t>
            </a:r>
          </a:p>
          <a:p>
            <a:r>
              <a:rPr lang="en-US" sz="2800" b="1" dirty="0">
                <a:latin typeface="+mj-lt"/>
              </a:rPr>
              <a:t>UNTUK MELAKUKAN PENTEST.</a:t>
            </a:r>
          </a:p>
        </p:txBody>
      </p:sp>
    </p:spTree>
    <p:extLst>
      <p:ext uri="{BB962C8B-B14F-4D97-AF65-F5344CB8AC3E}">
        <p14:creationId xmlns:p14="http://schemas.microsoft.com/office/powerpoint/2010/main" val="743592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253978" y="311016"/>
            <a:ext cx="116381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Berlin Sans FB Demi" panose="020E0802020502020306" pitchFamily="34" charset="0"/>
              </a:rPr>
              <a:t>DAFTAR LIST VULNERABILITY APPLICATION</a:t>
            </a:r>
            <a:endParaRPr lang="en-ID" sz="4400" b="1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D37FB-C540-44C3-4FBE-43D9D24876A1}"/>
              </a:ext>
            </a:extLst>
          </p:cNvPr>
          <p:cNvSpPr txBox="1"/>
          <p:nvPr/>
        </p:nvSpPr>
        <p:spPr>
          <a:xfrm>
            <a:off x="487656" y="1443271"/>
            <a:ext cx="56083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DVWA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WEBGOAT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PORTSWIGGER ACADEMY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BWAPP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TESTPHP</a:t>
            </a:r>
          </a:p>
          <a:p>
            <a:pPr marL="514350" indent="-514350">
              <a:buAutoNum type="arabicPeriod"/>
            </a:pPr>
            <a:r>
              <a:rPr lang="en-US" sz="2800" b="1" dirty="0">
                <a:latin typeface="+mj-lt"/>
              </a:rPr>
              <a:t>VULNLAB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47EE1D-B0A5-33DA-46D8-D3284CAEE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4369" y="3482008"/>
            <a:ext cx="3293165" cy="3293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5EEC29-86BD-BA67-89B0-26517C0898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78" y="4890051"/>
            <a:ext cx="2121439" cy="17816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E0E096-6EBD-627B-C3A9-55C7C71069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019" y="1443271"/>
            <a:ext cx="2192325" cy="9528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27F388-F8C7-2098-B48D-940138A884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5689" y="2565802"/>
            <a:ext cx="2858655" cy="9528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DF3862-B662-0B88-5DD3-9E80F01436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235" y="5155712"/>
            <a:ext cx="3031985" cy="15159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67DB60-CC47-2FBF-1E77-D6F8C24BCF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383" y="5153770"/>
            <a:ext cx="2698552" cy="15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433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2791249" y="364024"/>
            <a:ext cx="66095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Berlin Sans FB Demi" panose="020E0802020502020306" pitchFamily="34" charset="0"/>
              </a:rPr>
              <a:t>BUG BOUNTY PROGRAM</a:t>
            </a:r>
            <a:endParaRPr lang="en-ID" sz="4400" b="1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D37FB-C540-44C3-4FBE-43D9D24876A1}"/>
              </a:ext>
            </a:extLst>
          </p:cNvPr>
          <p:cNvSpPr txBox="1"/>
          <p:nvPr/>
        </p:nvSpPr>
        <p:spPr>
          <a:xfrm>
            <a:off x="4149657" y="3565492"/>
            <a:ext cx="56083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HACKERONE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BUGCROWD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INTIGRITI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CYBERARMY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REDSTORM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E9D3D1-64F0-BA85-4D6D-16C80148F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331" y="3305891"/>
            <a:ext cx="3381525" cy="3381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C96C9D-AD35-EC28-3140-4F9F54310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063" y="1336494"/>
            <a:ext cx="1194671" cy="11946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CE0E25-683D-C4CC-582E-0FFB91DDD9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776" y="1336495"/>
            <a:ext cx="1005140" cy="11946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CE96ED2-1481-8CFE-33DD-3F335BF442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952" y="1336495"/>
            <a:ext cx="1194671" cy="11946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CB38667-ED66-FFAC-3ACB-07B9CB9E62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249" y="1336495"/>
            <a:ext cx="1194671" cy="119467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6AE92E-77B9-62CB-B178-3500003823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096" y="1336495"/>
            <a:ext cx="1194671" cy="119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0716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240645" y="300901"/>
            <a:ext cx="9166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Berlin Sans FB Demi" panose="020E0802020502020306" pitchFamily="34" charset="0"/>
              </a:rPr>
              <a:t>WEBSITE PEMERINTAH INDONESIA</a:t>
            </a:r>
            <a:endParaRPr lang="en-ID" sz="4400" b="1" dirty="0">
              <a:latin typeface="Berlin Sans FB Demi" panose="020E0802020502020306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D37FB-C540-44C3-4FBE-43D9D24876A1}"/>
              </a:ext>
            </a:extLst>
          </p:cNvPr>
          <p:cNvSpPr txBox="1"/>
          <p:nvPr/>
        </p:nvSpPr>
        <p:spPr>
          <a:xfrm>
            <a:off x="240645" y="1508970"/>
            <a:ext cx="69821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JAKARTA.GO.ID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KEMKES.GO.ID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TANGERANGKOTA.GO.ID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KOMINFO.GO.ID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 BALIPROV.GO.ID</a:t>
            </a:r>
          </a:p>
          <a:p>
            <a:pPr marL="514350" indent="-514350">
              <a:buAutoNum type="arabicPeriod"/>
            </a:pPr>
            <a:r>
              <a:rPr lang="en-US" sz="3600" b="1" dirty="0">
                <a:latin typeface="+mj-lt"/>
              </a:rPr>
              <a:t>JABARPROV.GO.ID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098F40-5E27-9F78-E535-BEEE1FBEE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863" y="5326235"/>
            <a:ext cx="3281431" cy="1170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EEB72-CE97-D97A-094A-97001715A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843" y="4795559"/>
            <a:ext cx="2148927" cy="1754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3E8E08-944D-088D-B8FC-452FDB737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45" y="5272941"/>
            <a:ext cx="2550869" cy="12769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60A407-6F08-2EBA-7E67-DEE005B2A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506" y="4925290"/>
            <a:ext cx="1359715" cy="162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2023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6237058" y="259071"/>
            <a:ext cx="57134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Berlin Sans FB Demi" panose="020E0802020502020306" pitchFamily="34" charset="0"/>
              </a:rPr>
              <a:t>LANGKAH TERAKHIR</a:t>
            </a:r>
            <a:endParaRPr lang="en-ID" sz="4400" b="1" dirty="0">
              <a:latin typeface="Berlin Sans FB Demi" panose="020E0802020502020306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D6A91E-4AB7-AED9-29B4-5C75D33EA633}"/>
              </a:ext>
            </a:extLst>
          </p:cNvPr>
          <p:cNvSpPr txBox="1"/>
          <p:nvPr/>
        </p:nvSpPr>
        <p:spPr>
          <a:xfrm>
            <a:off x="240645" y="4695532"/>
            <a:ext cx="117098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+mj-lt"/>
              </a:rPr>
              <a:t>MELAKUKAN LAPORAN BUG ATAU CELAH KEAMANAN KEPADA PIHAK IT SECURITY ATAU PEMILIK WEBSITE.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5A7B79C-F45A-1D2D-93F4-ED47C79BD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18" y="-66968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31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237676" y="274585"/>
            <a:ext cx="35573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Berlin Sans FB Demi" panose="020E0802020502020306" pitchFamily="34" charset="0"/>
              </a:rPr>
              <a:t>ISI LAPORAN</a:t>
            </a:r>
            <a:endParaRPr lang="en-ID" sz="4400" b="1" dirty="0">
              <a:latin typeface="Berlin Sans FB Demi" panose="020E0802020502020306" pitchFamily="34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E12284-8FE3-F1A2-A0AD-4736E3970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5334" y="3326295"/>
            <a:ext cx="3255583" cy="3255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B5DA0F-A792-BEAA-2F9D-C2EE6B431338}"/>
              </a:ext>
            </a:extLst>
          </p:cNvPr>
          <p:cNvSpPr txBox="1"/>
          <p:nvPr/>
        </p:nvSpPr>
        <p:spPr>
          <a:xfrm>
            <a:off x="241081" y="1448749"/>
            <a:ext cx="117098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VULNERABILITY</a:t>
            </a:r>
            <a:r>
              <a:rPr lang="en-US" sz="2800" b="1" dirty="0">
                <a:latin typeface="+mj-lt"/>
              </a:rPr>
              <a:t>	: ( JENIS KERENTANAN YANG DITEMUKAN )</a:t>
            </a:r>
          </a:p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SEVERITY</a:t>
            </a:r>
            <a:r>
              <a:rPr lang="en-US" sz="2800" b="1" dirty="0">
                <a:latin typeface="+mj-lt"/>
              </a:rPr>
              <a:t>			: ( TINGKAT KERENTANAN TERSEBUT )</a:t>
            </a:r>
          </a:p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DESCRIPTION</a:t>
            </a:r>
            <a:r>
              <a:rPr lang="en-US" sz="2800" b="1" dirty="0">
                <a:latin typeface="+mj-lt"/>
              </a:rPr>
              <a:t>		: ( PENJELASAN MENGENAI KERENTANAN TERSEBUT )</a:t>
            </a:r>
          </a:p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IMPACT</a:t>
            </a:r>
            <a:r>
              <a:rPr lang="en-US" sz="2800" b="1" dirty="0">
                <a:latin typeface="+mj-lt"/>
              </a:rPr>
              <a:t>				: ( DAMPAK DARI KERENTANAN TERSEBUT )</a:t>
            </a:r>
          </a:p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RECOMMENDED SOLUTION </a:t>
            </a:r>
            <a:r>
              <a:rPr lang="en-US" sz="2800" b="1" dirty="0">
                <a:latin typeface="+mj-lt"/>
              </a:rPr>
              <a:t>: ( SOLUSI REKOMENDASI</a:t>
            </a:r>
          </a:p>
          <a:p>
            <a:r>
              <a:rPr lang="en-US" sz="2800" b="1" dirty="0">
                <a:latin typeface="+mj-lt"/>
              </a:rPr>
              <a:t>						UNTUK KERENTANAN TERSEBUT )</a:t>
            </a:r>
          </a:p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REFERENCES</a:t>
            </a:r>
            <a:r>
              <a:rPr lang="en-US" sz="2800" b="1" dirty="0">
                <a:latin typeface="+mj-lt"/>
              </a:rPr>
              <a:t>		: ( REFERENSI DARI KERENTANAN )</a:t>
            </a:r>
          </a:p>
          <a:p>
            <a:r>
              <a:rPr lang="en-US" sz="2800" b="1" dirty="0">
                <a:solidFill>
                  <a:srgbClr val="FF0000"/>
                </a:solidFill>
                <a:latin typeface="+mj-lt"/>
              </a:rPr>
              <a:t>PROOF OF CONCEPT </a:t>
            </a:r>
            <a:r>
              <a:rPr lang="en-US" sz="2800" b="1" dirty="0">
                <a:latin typeface="+mj-lt"/>
              </a:rPr>
              <a:t>: ( BUKTI KONSEP UNTUK</a:t>
            </a:r>
          </a:p>
          <a:p>
            <a:r>
              <a:rPr lang="en-US" sz="2800" b="1" dirty="0">
                <a:latin typeface="+mj-lt"/>
              </a:rPr>
              <a:t>MENUNJUKKAN KERENTANAN YANG DITEMUKAN )</a:t>
            </a:r>
          </a:p>
        </p:txBody>
      </p:sp>
    </p:spTree>
    <p:extLst>
      <p:ext uri="{BB962C8B-B14F-4D97-AF65-F5344CB8AC3E}">
        <p14:creationId xmlns:p14="http://schemas.microsoft.com/office/powerpoint/2010/main" val="2045988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0D0C27A-C750-5EAC-7729-370EF2C3C33C}"/>
              </a:ext>
            </a:extLst>
          </p:cNvPr>
          <p:cNvSpPr txBox="1"/>
          <p:nvPr/>
        </p:nvSpPr>
        <p:spPr>
          <a:xfrm>
            <a:off x="3054688" y="467688"/>
            <a:ext cx="6304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Berlin Sans FB Demi" panose="020E0802020502020306" pitchFamily="34" charset="0"/>
              </a:rPr>
              <a:t>TERIMA KASIH</a:t>
            </a:r>
            <a:endParaRPr lang="en-ID" sz="7200" b="1" dirty="0">
              <a:latin typeface="Berlin Sans FB Demi" panose="020E0802020502020306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F9058F-839C-8F03-3B06-F03C67506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5444" y="1552217"/>
            <a:ext cx="5142895" cy="514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67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198</TotalTime>
  <Words>298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Bahnschrift SemiBold</vt:lpstr>
      <vt:lpstr>Berlin Sans FB Demi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Nur</dc:creator>
  <cp:lastModifiedBy>Muhammad Nur</cp:lastModifiedBy>
  <cp:revision>10</cp:revision>
  <dcterms:created xsi:type="dcterms:W3CDTF">2023-04-15T05:50:54Z</dcterms:created>
  <dcterms:modified xsi:type="dcterms:W3CDTF">2023-04-15T13:31:02Z</dcterms:modified>
</cp:coreProperties>
</file>