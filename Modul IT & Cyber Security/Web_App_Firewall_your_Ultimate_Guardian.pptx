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no"?><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31"/>
  </p:notesMasterIdLst>
  <p:sldIdLst>
    <p:sldId id="256" r:id="rId23"/>
    <p:sldId id="257" r:id="rId24"/>
    <p:sldId id="258" r:id="rId25"/>
    <p:sldId id="259" r:id="rId26"/>
    <p:sldId id="260" r:id="rId27"/>
    <p:sldId id="261" r:id="rId28"/>
    <p:sldId id="262" r:id="rId29"/>
    <p:sldId id="263" r:id="rId30"/>
  </p:sldIdLst>
  <p:sldSz cx="18288000" cy="10287000"/>
  <p:notesSz cx="6858000" cy="9144000"/>
  <p:embeddedFontLst>
    <p:embeddedFont>
      <p:font typeface="Glacial Indifference" charset="1" panose="00000000000000000000"/>
      <p:regular r:id="rId6"/>
    </p:embeddedFont>
    <p:embeddedFont>
      <p:font typeface="Glacial Indifference Bold" charset="1" panose="00000800000000000000"/>
      <p:regular r:id="rId7"/>
    </p:embeddedFont>
    <p:embeddedFont>
      <p:font typeface="Glacial Indifference Italics" charset="1" panose="00000000000000000000"/>
      <p:regular r:id="rId8"/>
    </p:embeddedFont>
    <p:embeddedFont>
      <p:font typeface="Glacial Indifference Bold Italics" charset="1" panose="00000800000000000000"/>
      <p:regular r:id="rId9"/>
    </p:embeddedFont>
    <p:embeddedFont>
      <p:font typeface="Arimo" charset="1" panose="020B0604020202020204"/>
      <p:regular r:id="rId10"/>
    </p:embeddedFont>
    <p:embeddedFont>
      <p:font typeface="Arimo Bold" charset="1" panose="020B0704020202020204"/>
      <p:regular r:id="rId11"/>
    </p:embeddedFont>
    <p:embeddedFont>
      <p:font typeface="Arimo Italics" charset="1" panose="020B0604020202090204"/>
      <p:regular r:id="rId12"/>
    </p:embeddedFont>
    <p:embeddedFont>
      <p:font typeface="Arimo Bold Italics" charset="1" panose="020B0704020202090204"/>
      <p:regular r:id="rId13"/>
    </p:embeddedFont>
    <p:embeddedFont>
      <p:font typeface="League Spartan" charset="1" panose="00000800000000000000"/>
      <p:regular r:id="rId14"/>
    </p:embeddedFont>
    <p:embeddedFont>
      <p:font typeface="Montserrat" charset="1" panose="00000500000000000000"/>
      <p:regular r:id="rId15"/>
    </p:embeddedFont>
    <p:embeddedFont>
      <p:font typeface="Montserrat Bold" charset="1" panose="00000600000000000000"/>
      <p:regular r:id="rId16"/>
    </p:embeddedFont>
    <p:embeddedFont>
      <p:font typeface="Montserrat Italics" charset="1" panose="00000500000000000000"/>
      <p:regular r:id="rId17"/>
    </p:embeddedFont>
    <p:embeddedFont>
      <p:font typeface="Montserrat Bold Italics" charset="1" panose="00000600000000000000"/>
      <p:regular r:id="rId18"/>
    </p:embeddedFont>
    <p:embeddedFont>
      <p:font typeface="Lato" charset="1" panose="020F0502020204030203"/>
      <p:regular r:id="rId19"/>
    </p:embeddedFont>
    <p:embeddedFont>
      <p:font typeface="Lato Bold" charset="1" panose="020F0502020204030203"/>
      <p:regular r:id="rId20"/>
    </p:embeddedFont>
    <p:embeddedFont>
      <p:font typeface="Lato Italics" charset="1" panose="020F0502020204030203"/>
      <p:regular r:id="rId21"/>
    </p:embeddedFont>
    <p:embeddedFont>
      <p:font typeface="Lato Bold Italics" charset="1" panose="020F0502020204030203"/>
      <p:regular r:id="rId2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no"?><Relationships xmlns="http://schemas.openxmlformats.org/package/2006/relationships"><Relationship Id="rId1" Target="slideMasters/slideMaster1.xml" Type="http://schemas.openxmlformats.org/officeDocument/2006/relationships/slideMaster"/><Relationship Id="rId10" Target="fonts/font10.fntdata" Type="http://schemas.openxmlformats.org/officeDocument/2006/relationships/font"/><Relationship Id="rId11" Target="fonts/font11.fntdata" Type="http://schemas.openxmlformats.org/officeDocument/2006/relationships/font"/><Relationship Id="rId12" Target="fonts/font12.fntdata" Type="http://schemas.openxmlformats.org/officeDocument/2006/relationships/font"/><Relationship Id="rId13" Target="fonts/font13.fntdata" Type="http://schemas.openxmlformats.org/officeDocument/2006/relationships/font"/><Relationship Id="rId14" Target="fonts/font14.fntdata" Type="http://schemas.openxmlformats.org/officeDocument/2006/relationships/font"/><Relationship Id="rId15" Target="fonts/font15.fntdata" Type="http://schemas.openxmlformats.org/officeDocument/2006/relationships/font"/><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23" Target="slides/slide1.xml" Type="http://schemas.openxmlformats.org/officeDocument/2006/relationships/slide"/><Relationship Id="rId24" Target="slides/slide2.xml" Type="http://schemas.openxmlformats.org/officeDocument/2006/relationships/slide"/><Relationship Id="rId25" Target="slides/slide3.xml" Type="http://schemas.openxmlformats.org/officeDocument/2006/relationships/slide"/><Relationship Id="rId26" Target="slides/slide4.xml" Type="http://schemas.openxmlformats.org/officeDocument/2006/relationships/slide"/><Relationship Id="rId27" Target="slides/slide5.xml" Type="http://schemas.openxmlformats.org/officeDocument/2006/relationships/slide"/><Relationship Id="rId28" Target="slides/slide6.xml" Type="http://schemas.openxmlformats.org/officeDocument/2006/relationships/slide"/><Relationship Id="rId29" Target="slides/slide7.xml" Type="http://schemas.openxmlformats.org/officeDocument/2006/relationships/slide"/><Relationship Id="rId3" Target="viewProps.xml" Type="http://schemas.openxmlformats.org/officeDocument/2006/relationships/viewProps"/><Relationship Id="rId30" Target="slides/slide8.xml" Type="http://schemas.openxmlformats.org/officeDocument/2006/relationships/slide"/><Relationship Id="rId31" Target="notesMasters/notesMaster1.xml" Type="http://schemas.openxmlformats.org/officeDocument/2006/relationships/notesMaster"/><Relationship Id="rId32" Target="theme/theme2.xml" Type="http://schemas.openxmlformats.org/officeDocument/2006/relationships/theme"/><Relationship Id="rId33" Target="notesSlides/notesSlide1.xml" Type="http://schemas.openxmlformats.org/officeDocument/2006/relationships/notesSlide"/><Relationship Id="rId34" Target="notesSlides/notesSlide2.xml" Type="http://schemas.openxmlformats.org/officeDocument/2006/relationships/notesSlide"/><Relationship Id="rId35" Target="notesSlides/notesSlide3.xml" Type="http://schemas.openxmlformats.org/officeDocument/2006/relationships/notesSlide"/><Relationship Id="rId36" Target="notesSlides/notesSlide4.xml" Type="http://schemas.openxmlformats.org/officeDocument/2006/relationships/notesSlide"/><Relationship Id="rId37" Target="notesSlides/notesSlide5.xml" Type="http://schemas.openxmlformats.org/officeDocument/2006/relationships/notesSlide"/><Relationship Id="rId38" Target="notesSlides/notesSlide6.xml" Type="http://schemas.openxmlformats.org/officeDocument/2006/relationships/notesSlide"/><Relationship Id="rId39" Target="notesSlides/notesSlide7.xml" Type="http://schemas.openxmlformats.org/officeDocument/2006/relationships/notesSlide"/><Relationship Id="rId4" Target="theme/theme1.xml" Type="http://schemas.openxmlformats.org/officeDocument/2006/relationships/theme"/><Relationship Id="rId40" Target="notesSlides/notesSlide8.xml" Type="http://schemas.openxmlformats.org/officeDocument/2006/relationships/notesSlide"/><Relationship Id="rId5" Target="tableStyles.xml" Type="http://schemas.openxmlformats.org/officeDocument/2006/relationships/tableStyles"/><Relationship Id="rId6" Target="fonts/font6.fntdata" Type="http://schemas.openxmlformats.org/officeDocument/2006/relationships/font"/><Relationship Id="rId7" Target="fonts/font7.fntdata" Type="http://schemas.openxmlformats.org/officeDocument/2006/relationships/font"/><Relationship Id="rId8" Target="fonts/font8.fntdata" Type="http://schemas.openxmlformats.org/officeDocument/2006/relationships/font"/><Relationship Id="rId9" Target="fonts/font9.fntdata" Type="http://schemas.openxmlformats.org/officeDocument/2006/relationships/font"/></Relationships>
</file>

<file path=ppt/notesMasters/_rels/notesMaster1.xml.rels><?xml version="1.0" encoding="UTF-8" standalone="no"?><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no"?><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no"?><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no"?><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no"?><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no"?><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no"?><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no"?><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no"?><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notesSlide1.xml><?xml version="1.0" encoding="utf-8"?>
<p:notes xmlns:p="http://schemas.openxmlformats.org/presentationml/2006/main">
  <p:cSld>
    <p:spTree xmlns:a="http://schemas.openxmlformats.org/drawingml/2006/main"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notes>
</file>

<file path=ppt/notesSlides/notesSlide2.xml><?xml version="1.0" encoding="utf-8"?>
<p:notes xmlns:p="http://schemas.openxmlformats.org/presentationml/2006/main">
  <p:cSld>
    <p:spTree xmlns:a="http://schemas.openxmlformats.org/drawingml/2006/main"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notes>
</file>

<file path=ppt/notesSlides/notesSlide3.xml><?xml version="1.0" encoding="utf-8"?>
<p:notes xmlns:p="http://schemas.openxmlformats.org/presentationml/2006/main">
  <p:cSld>
    <p:spTree xmlns:a="http://schemas.openxmlformats.org/drawingml/2006/main"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notes>
</file>

<file path=ppt/notesSlides/notesSlide4.xml><?xml version="1.0" encoding="utf-8"?>
<p:notes xmlns:p="http://schemas.openxmlformats.org/presentationml/2006/main">
  <p:cSld>
    <p:spTree xmlns:a="http://schemas.openxmlformats.org/drawingml/2006/main"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notes>
</file>

<file path=ppt/notesSlides/notesSlide5.xml><?xml version="1.0" encoding="utf-8"?>
<p:notes xmlns:p="http://schemas.openxmlformats.org/presentationml/2006/main">
  <p:cSld>
    <p:spTree xmlns:a="http://schemas.openxmlformats.org/drawingml/2006/main"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notes>
</file>

<file path=ppt/notesSlides/notesSlide6.xml><?xml version="1.0" encoding="utf-8"?>
<p:notes xmlns:p="http://schemas.openxmlformats.org/presentationml/2006/main">
  <p:cSld>
    <p:spTree xmlns:a="http://schemas.openxmlformats.org/drawingml/2006/main"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notes>
</file>

<file path=ppt/notesSlides/notesSlide7.xml><?xml version="1.0" encoding="utf-8"?>
<p:notes xmlns:p="http://schemas.openxmlformats.org/presentationml/2006/main">
  <p:cSld>
    <p:spTree xmlns:a="http://schemas.openxmlformats.org/drawingml/2006/main"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notes>
</file>

<file path=ppt/notesSlides/notesSlide8.xml><?xml version="1.0" encoding="utf-8"?>
<p:notes xmlns:p="http://schemas.openxmlformats.org/presentationml/2006/main">
  <p:cSld>
    <p:spTree xmlns:a="http://schemas.openxmlformats.org/drawingml/2006/main"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notes>
</file>

<file path=ppt/slideLayouts/_rels/slideLayout1.xml.rels><?xml version="1.0" encoding="UTF-8" standalone="no"?><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no"?><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no"?><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no"?><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no"?><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no"?><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no"?><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no"?><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no"?><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no"?><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no"?><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no"?><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no"?><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png" Type="http://schemas.openxmlformats.org/officeDocument/2006/relationships/image"/><Relationship Id="rId4" Target="../media/image2.png" Type="http://schemas.openxmlformats.org/officeDocument/2006/relationships/image"/></Relationships>
</file>

<file path=ppt/slides/_rels/slide2.xml.rels><?xml version="1.0" encoding="UTF-8" standalone="no"?><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1.png" Type="http://schemas.openxmlformats.org/officeDocument/2006/relationships/image"/><Relationship Id="rId4" Target="../media/image2.png" Type="http://schemas.openxmlformats.org/officeDocument/2006/relationships/image"/></Relationships>
</file>

<file path=ppt/slides/_rels/slide3.xml.rels><?xml version="1.0" encoding="UTF-8" standalone="no"?><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1.png" Type="http://schemas.openxmlformats.org/officeDocument/2006/relationships/image"/><Relationship Id="rId4" Target="../media/image2.png" Type="http://schemas.openxmlformats.org/officeDocument/2006/relationships/image"/><Relationship Id="rId5" Target="../media/image3.png" Type="http://schemas.openxmlformats.org/officeDocument/2006/relationships/image"/></Relationships>
</file>

<file path=ppt/slides/_rels/slide4.xml.rels><?xml version="1.0" encoding="UTF-8" standalone="no"?><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1.png" Type="http://schemas.openxmlformats.org/officeDocument/2006/relationships/image"/><Relationship Id="rId4" Target="../media/image4.jpeg" Type="http://schemas.openxmlformats.org/officeDocument/2006/relationships/image"/><Relationship Id="rId5" Target="../media/image5.png" Type="http://schemas.openxmlformats.org/officeDocument/2006/relationships/image"/></Relationships>
</file>

<file path=ppt/slides/_rels/slide5.xml.rels><?xml version="1.0" encoding="UTF-8" standalone="no"?><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1.png" Type="http://schemas.openxmlformats.org/officeDocument/2006/relationships/image"/><Relationship Id="rId4" Target="../media/image4.jpeg" Type="http://schemas.openxmlformats.org/officeDocument/2006/relationships/image"/><Relationship Id="rId5" Target="../media/image6.png" Type="http://schemas.openxmlformats.org/officeDocument/2006/relationships/image"/></Relationships>
</file>

<file path=ppt/slides/_rels/slide6.xml.rels><?xml version="1.0" encoding="UTF-8" standalone="no"?><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1.png" Type="http://schemas.openxmlformats.org/officeDocument/2006/relationships/image"/><Relationship Id="rId4" Target="../media/image4.jpeg" Type="http://schemas.openxmlformats.org/officeDocument/2006/relationships/image"/><Relationship Id="rId5" Target="../media/image7.png" Type="http://schemas.openxmlformats.org/officeDocument/2006/relationships/image"/></Relationships>
</file>

<file path=ppt/slides/_rels/slide7.xml.rels><?xml version="1.0" encoding="UTF-8" standalone="no"?><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8.png" Type="http://schemas.openxmlformats.org/officeDocument/2006/relationships/image"/><Relationship Id="rId4" Target="../media/image9.jpeg" Type="http://schemas.openxmlformats.org/officeDocument/2006/relationships/image"/><Relationship Id="rId5" Target="../media/image10.png" Type="http://schemas.openxmlformats.org/officeDocument/2006/relationships/image"/></Relationships>
</file>

<file path=ppt/slides/_rels/slide8.xml.rels><?xml version="1.0" encoding="UTF-8" standalone="no"?><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image8.png" Type="http://schemas.openxmlformats.org/officeDocument/2006/relationships/image"/><Relationship Id="rId4" Target="../media/image9.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36" t="0" r="-36" b="0"/>
            </a:stretch>
          </a:blipFill>
        </p:spPr>
      </p:sp>
      <p:sp>
        <p:nvSpPr>
          <p:cNvPr name="AutoShape 3" id="3"/>
          <p:cNvSpPr/>
          <p:nvPr/>
        </p:nvSpPr>
        <p:spPr>
          <a:xfrm>
            <a:off x="5897880" y="7552155"/>
            <a:ext cx="6492240" cy="0"/>
          </a:xfrm>
          <a:prstGeom prst="line">
            <a:avLst/>
          </a:prstGeom>
          <a:ln cap="flat" w="38100">
            <a:solidFill>
              <a:srgbClr val="FFFFFF"/>
            </a:solidFill>
            <a:prstDash val="solid"/>
            <a:headEnd type="none" len="sm" w="sm"/>
            <a:tailEnd type="none" len="sm" w="sm"/>
          </a:ln>
        </p:spPr>
      </p:sp>
      <p:sp>
        <p:nvSpPr>
          <p:cNvPr name="Freeform 4" id="4"/>
          <p:cNvSpPr/>
          <p:nvPr/>
        </p:nvSpPr>
        <p:spPr>
          <a:xfrm flipH="false" flipV="false" rot="0">
            <a:off x="16038440" y="507433"/>
            <a:ext cx="1895819" cy="1725195"/>
          </a:xfrm>
          <a:custGeom>
            <a:avLst/>
            <a:gdLst/>
            <a:ahLst/>
            <a:cxnLst/>
            <a:rect r="r" b="b" t="t" l="l"/>
            <a:pathLst>
              <a:path h="1725195" w="1895819">
                <a:moveTo>
                  <a:pt x="0" y="0"/>
                </a:moveTo>
                <a:lnTo>
                  <a:pt x="1895818" y="0"/>
                </a:lnTo>
                <a:lnTo>
                  <a:pt x="1895818" y="1725195"/>
                </a:lnTo>
                <a:lnTo>
                  <a:pt x="0" y="1725195"/>
                </a:lnTo>
                <a:lnTo>
                  <a:pt x="0" y="0"/>
                </a:lnTo>
                <a:close/>
              </a:path>
            </a:pathLst>
          </a:custGeom>
          <a:blipFill>
            <a:blip r:embed="rId4"/>
            <a:stretch>
              <a:fillRect l="0" t="0" r="0" b="0"/>
            </a:stretch>
          </a:blipFill>
        </p:spPr>
      </p:sp>
      <p:sp>
        <p:nvSpPr>
          <p:cNvPr name="TextBox 5" id="5"/>
          <p:cNvSpPr txBox="true"/>
          <p:nvPr/>
        </p:nvSpPr>
        <p:spPr>
          <a:xfrm rot="0">
            <a:off x="1549860" y="2575654"/>
            <a:ext cx="15188280" cy="4090549"/>
          </a:xfrm>
          <a:prstGeom prst="rect">
            <a:avLst/>
          </a:prstGeom>
        </p:spPr>
        <p:txBody>
          <a:bodyPr anchor="t" rtlCol="false" tIns="0" lIns="0" bIns="0" rIns="0">
            <a:spAutoFit/>
          </a:bodyPr>
          <a:lstStyle/>
          <a:p>
            <a:pPr algn="ctr">
              <a:lnSpc>
                <a:spcPts val="19393"/>
              </a:lnSpc>
            </a:pPr>
            <a:r>
              <a:rPr lang="en-US" sz="11544">
                <a:solidFill>
                  <a:srgbClr val="FFFFFF"/>
                </a:solidFill>
                <a:latin typeface="League Spartan Bold"/>
              </a:rPr>
              <a:t>Web App Firewall:</a:t>
            </a:r>
          </a:p>
          <a:p>
            <a:pPr algn="ctr">
              <a:lnSpc>
                <a:spcPts val="13440"/>
              </a:lnSpc>
            </a:pPr>
            <a:r>
              <a:rPr lang="en-US" sz="8000">
                <a:solidFill>
                  <a:srgbClr val="FFFFFF"/>
                </a:solidFill>
                <a:latin typeface="League Spartan Bold"/>
              </a:rPr>
              <a:t>your Ultimate Guardian</a:t>
            </a:r>
          </a:p>
        </p:txBody>
      </p:sp>
      <p:sp>
        <p:nvSpPr>
          <p:cNvPr name="TextBox 6" id="6"/>
          <p:cNvSpPr txBox="true"/>
          <p:nvPr/>
        </p:nvSpPr>
        <p:spPr>
          <a:xfrm rot="0">
            <a:off x="1626629" y="7829851"/>
            <a:ext cx="15034742" cy="1642086"/>
          </a:xfrm>
          <a:prstGeom prst="rect">
            <a:avLst/>
          </a:prstGeom>
        </p:spPr>
        <p:txBody>
          <a:bodyPr anchor="t" rtlCol="false" tIns="0" lIns="0" bIns="0" rIns="0">
            <a:spAutoFit/>
          </a:bodyPr>
          <a:lstStyle/>
          <a:p>
            <a:pPr algn="ctr">
              <a:lnSpc>
                <a:spcPts val="6719"/>
              </a:lnSpc>
            </a:pPr>
            <a:r>
              <a:rPr lang="en-US" sz="3999">
                <a:solidFill>
                  <a:srgbClr val="FFFFFF"/>
                </a:solidFill>
                <a:latin typeface="League Spartan Bold"/>
              </a:rPr>
              <a:t>Elevate Web App Security with WAF</a:t>
            </a:r>
          </a:p>
          <a:p>
            <a:pPr algn="ctr">
              <a:lnSpc>
                <a:spcPts val="6720"/>
              </a:lnSpc>
            </a:pP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36" t="0" r="-36" b="0"/>
            </a:stretch>
          </a:blipFill>
        </p:spPr>
      </p:sp>
      <p:grpSp>
        <p:nvGrpSpPr>
          <p:cNvPr name="Group 3" id="3"/>
          <p:cNvGrpSpPr/>
          <p:nvPr/>
        </p:nvGrpSpPr>
        <p:grpSpPr>
          <a:xfrm rot="-5989">
            <a:off x="1028692" y="2125033"/>
            <a:ext cx="10934605" cy="38100"/>
            <a:chOff x="0" y="0"/>
            <a:chExt cx="14579473" cy="50800"/>
          </a:xfrm>
        </p:grpSpPr>
        <p:sp>
          <p:nvSpPr>
            <p:cNvPr name="Freeform 4" id="4"/>
            <p:cNvSpPr/>
            <p:nvPr/>
          </p:nvSpPr>
          <p:spPr>
            <a:xfrm flipH="false" flipV="false" rot="0">
              <a:off x="0" y="0"/>
              <a:ext cx="14579473" cy="50800"/>
            </a:xfrm>
            <a:custGeom>
              <a:avLst/>
              <a:gdLst/>
              <a:ahLst/>
              <a:cxnLst/>
              <a:rect r="r" b="b" t="t" l="l"/>
              <a:pathLst>
                <a:path h="50800" w="14579473">
                  <a:moveTo>
                    <a:pt x="0" y="0"/>
                  </a:moveTo>
                  <a:lnTo>
                    <a:pt x="14579473" y="0"/>
                  </a:lnTo>
                  <a:lnTo>
                    <a:pt x="14579473" y="50800"/>
                  </a:lnTo>
                  <a:lnTo>
                    <a:pt x="0" y="50800"/>
                  </a:lnTo>
                  <a:close/>
                </a:path>
              </a:pathLst>
            </a:custGeom>
            <a:solidFill>
              <a:srgbClr val="FFFFFF"/>
            </a:solidFill>
          </p:spPr>
        </p:sp>
      </p:grpSp>
      <p:sp>
        <p:nvSpPr>
          <p:cNvPr name="TextBox 5" id="5"/>
          <p:cNvSpPr txBox="true"/>
          <p:nvPr/>
        </p:nvSpPr>
        <p:spPr>
          <a:xfrm rot="0">
            <a:off x="1028700" y="606381"/>
            <a:ext cx="11849100" cy="1342422"/>
          </a:xfrm>
          <a:prstGeom prst="rect">
            <a:avLst/>
          </a:prstGeom>
        </p:spPr>
        <p:txBody>
          <a:bodyPr anchor="t" rtlCol="false" tIns="0" lIns="0" bIns="0" rIns="0">
            <a:spAutoFit/>
          </a:bodyPr>
          <a:lstStyle/>
          <a:p>
            <a:pPr algn="ctr">
              <a:lnSpc>
                <a:spcPts val="9489"/>
              </a:lnSpc>
            </a:pPr>
            <a:r>
              <a:rPr lang="en-US" sz="5648">
                <a:solidFill>
                  <a:srgbClr val="FBF9F8"/>
                </a:solidFill>
                <a:latin typeface="League Spartan Bold"/>
              </a:rPr>
              <a:t>Apa yang akan kita pelajari?</a:t>
            </a:r>
          </a:p>
        </p:txBody>
      </p:sp>
      <p:sp>
        <p:nvSpPr>
          <p:cNvPr name="TextBox 6" id="6"/>
          <p:cNvSpPr txBox="true"/>
          <p:nvPr/>
        </p:nvSpPr>
        <p:spPr>
          <a:xfrm rot="0">
            <a:off x="1028700" y="2769278"/>
            <a:ext cx="16970383" cy="4340795"/>
          </a:xfrm>
          <a:prstGeom prst="rect">
            <a:avLst/>
          </a:prstGeom>
        </p:spPr>
        <p:txBody>
          <a:bodyPr anchor="t" rtlCol="false" tIns="0" lIns="0" bIns="0" rIns="0">
            <a:spAutoFit/>
          </a:bodyPr>
          <a:lstStyle/>
          <a:p>
            <a:pPr marL="1419315" indent="-354829" lvl="3">
              <a:lnSpc>
                <a:spcPts val="8732"/>
              </a:lnSpc>
              <a:buFont typeface="Arial"/>
              <a:buChar char="￭"/>
            </a:pPr>
            <a:r>
              <a:rPr lang="en-US" sz="5198">
                <a:solidFill>
                  <a:srgbClr val="FFFFFF"/>
                </a:solidFill>
                <a:latin typeface="Lato Bold"/>
              </a:rPr>
              <a:t>Definisi WAF</a:t>
            </a:r>
          </a:p>
          <a:p>
            <a:pPr marL="1419315" indent="-354829" lvl="3">
              <a:lnSpc>
                <a:spcPts val="8732"/>
              </a:lnSpc>
              <a:buFont typeface="Arial"/>
              <a:buChar char="￭"/>
            </a:pPr>
            <a:r>
              <a:rPr lang="en-US" sz="5198">
                <a:solidFill>
                  <a:srgbClr val="FFFFFF"/>
                </a:solidFill>
                <a:latin typeface="Lato Bold"/>
              </a:rPr>
              <a:t>Cara Kerja WAF</a:t>
            </a:r>
          </a:p>
          <a:p>
            <a:pPr marL="1419315" indent="-354829" lvl="3">
              <a:lnSpc>
                <a:spcPts val="8732"/>
              </a:lnSpc>
              <a:buFont typeface="Arial"/>
              <a:buChar char="￭"/>
            </a:pPr>
            <a:r>
              <a:rPr lang="en-US" sz="5198">
                <a:solidFill>
                  <a:srgbClr val="FFFFFF"/>
                </a:solidFill>
                <a:latin typeface="Lato Bold"/>
              </a:rPr>
              <a:t>Sektor yang diamankan WAF</a:t>
            </a:r>
          </a:p>
          <a:p>
            <a:pPr algn="l" marL="1419315" indent="-354829" lvl="3">
              <a:lnSpc>
                <a:spcPts val="8733"/>
              </a:lnSpc>
              <a:buFont typeface="Arial"/>
              <a:buChar char="￭"/>
            </a:pPr>
            <a:r>
              <a:rPr lang="en-US" sz="5198">
                <a:solidFill>
                  <a:srgbClr val="FFFFFF"/>
                </a:solidFill>
                <a:latin typeface="Lato Bold"/>
              </a:rPr>
              <a:t>Seberapa Penting WAF</a:t>
            </a:r>
          </a:p>
        </p:txBody>
      </p:sp>
      <p:sp>
        <p:nvSpPr>
          <p:cNvPr name="Freeform 7" id="7"/>
          <p:cNvSpPr/>
          <p:nvPr/>
        </p:nvSpPr>
        <p:spPr>
          <a:xfrm flipH="false" flipV="false" rot="0">
            <a:off x="16038440" y="507433"/>
            <a:ext cx="1895819" cy="1725195"/>
          </a:xfrm>
          <a:custGeom>
            <a:avLst/>
            <a:gdLst/>
            <a:ahLst/>
            <a:cxnLst/>
            <a:rect r="r" b="b" t="t" l="l"/>
            <a:pathLst>
              <a:path h="1725195" w="1895819">
                <a:moveTo>
                  <a:pt x="0" y="0"/>
                </a:moveTo>
                <a:lnTo>
                  <a:pt x="1895818" y="0"/>
                </a:lnTo>
                <a:lnTo>
                  <a:pt x="1895818" y="1725195"/>
                </a:lnTo>
                <a:lnTo>
                  <a:pt x="0" y="1725195"/>
                </a:lnTo>
                <a:lnTo>
                  <a:pt x="0" y="0"/>
                </a:lnTo>
                <a:close/>
              </a:path>
            </a:pathLst>
          </a:custGeom>
          <a:blipFill>
            <a:blip r:embed="rId4"/>
            <a:stretch>
              <a:fillRect l="0" t="0" r="0"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36" t="0" r="-36" b="0"/>
            </a:stretch>
          </a:blipFill>
        </p:spPr>
      </p:sp>
      <p:grpSp>
        <p:nvGrpSpPr>
          <p:cNvPr name="Group 3" id="3"/>
          <p:cNvGrpSpPr/>
          <p:nvPr/>
        </p:nvGrpSpPr>
        <p:grpSpPr>
          <a:xfrm rot="0">
            <a:off x="0" y="0"/>
            <a:ext cx="8751475" cy="10480929"/>
            <a:chOff x="0" y="0"/>
            <a:chExt cx="11668633" cy="13974572"/>
          </a:xfrm>
        </p:grpSpPr>
        <p:sp>
          <p:nvSpPr>
            <p:cNvPr name="Freeform 4" id="4"/>
            <p:cNvSpPr/>
            <p:nvPr/>
          </p:nvSpPr>
          <p:spPr>
            <a:xfrm flipH="false" flipV="false" rot="0">
              <a:off x="0" y="0"/>
              <a:ext cx="11668633" cy="13974572"/>
            </a:xfrm>
            <a:custGeom>
              <a:avLst/>
              <a:gdLst/>
              <a:ahLst/>
              <a:cxnLst/>
              <a:rect r="r" b="b" t="t" l="l"/>
              <a:pathLst>
                <a:path h="13974572" w="11668633">
                  <a:moveTo>
                    <a:pt x="0" y="0"/>
                  </a:moveTo>
                  <a:lnTo>
                    <a:pt x="11668633" y="0"/>
                  </a:lnTo>
                  <a:lnTo>
                    <a:pt x="11668633" y="13974572"/>
                  </a:lnTo>
                  <a:lnTo>
                    <a:pt x="0" y="13974572"/>
                  </a:lnTo>
                  <a:close/>
                </a:path>
              </a:pathLst>
            </a:custGeom>
            <a:solidFill>
              <a:srgbClr val="FBF9F8"/>
            </a:solidFill>
          </p:spPr>
        </p:sp>
      </p:grpSp>
      <p:sp>
        <p:nvSpPr>
          <p:cNvPr name="Freeform 5" id="5"/>
          <p:cNvSpPr/>
          <p:nvPr/>
        </p:nvSpPr>
        <p:spPr>
          <a:xfrm flipH="false" flipV="false" rot="0">
            <a:off x="16038440" y="507433"/>
            <a:ext cx="1895819" cy="1725195"/>
          </a:xfrm>
          <a:custGeom>
            <a:avLst/>
            <a:gdLst/>
            <a:ahLst/>
            <a:cxnLst/>
            <a:rect r="r" b="b" t="t" l="l"/>
            <a:pathLst>
              <a:path h="1725195" w="1895819">
                <a:moveTo>
                  <a:pt x="0" y="0"/>
                </a:moveTo>
                <a:lnTo>
                  <a:pt x="1895818" y="0"/>
                </a:lnTo>
                <a:lnTo>
                  <a:pt x="1895818" y="1725195"/>
                </a:lnTo>
                <a:lnTo>
                  <a:pt x="0" y="1725195"/>
                </a:lnTo>
                <a:lnTo>
                  <a:pt x="0" y="0"/>
                </a:lnTo>
                <a:close/>
              </a:path>
            </a:pathLst>
          </a:custGeom>
          <a:blipFill>
            <a:blip r:embed="rId4"/>
            <a:stretch>
              <a:fillRect l="0" t="0" r="0" b="0"/>
            </a:stretch>
          </a:blipFill>
        </p:spPr>
      </p:sp>
      <p:sp>
        <p:nvSpPr>
          <p:cNvPr name="Freeform 6" id="6"/>
          <p:cNvSpPr/>
          <p:nvPr/>
        </p:nvSpPr>
        <p:spPr>
          <a:xfrm flipH="false" flipV="false" rot="0">
            <a:off x="9393790" y="3131084"/>
            <a:ext cx="8540469" cy="5124281"/>
          </a:xfrm>
          <a:custGeom>
            <a:avLst/>
            <a:gdLst/>
            <a:ahLst/>
            <a:cxnLst/>
            <a:rect r="r" b="b" t="t" l="l"/>
            <a:pathLst>
              <a:path h="5124281" w="8540469">
                <a:moveTo>
                  <a:pt x="0" y="0"/>
                </a:moveTo>
                <a:lnTo>
                  <a:pt x="8540468" y="0"/>
                </a:lnTo>
                <a:lnTo>
                  <a:pt x="8540468" y="5124282"/>
                </a:lnTo>
                <a:lnTo>
                  <a:pt x="0" y="5124282"/>
                </a:lnTo>
                <a:lnTo>
                  <a:pt x="0" y="0"/>
                </a:lnTo>
                <a:close/>
              </a:path>
            </a:pathLst>
          </a:custGeom>
          <a:blipFill>
            <a:blip r:embed="rId5"/>
            <a:stretch>
              <a:fillRect l="0" t="0" r="0" b="0"/>
            </a:stretch>
          </a:blipFill>
        </p:spPr>
      </p:sp>
      <p:sp>
        <p:nvSpPr>
          <p:cNvPr name="TextBox 7" id="7"/>
          <p:cNvSpPr txBox="true"/>
          <p:nvPr/>
        </p:nvSpPr>
        <p:spPr>
          <a:xfrm rot="0">
            <a:off x="864490" y="259003"/>
            <a:ext cx="7258271" cy="971398"/>
          </a:xfrm>
          <a:prstGeom prst="rect">
            <a:avLst/>
          </a:prstGeom>
        </p:spPr>
        <p:txBody>
          <a:bodyPr anchor="t" rtlCol="false" tIns="0" lIns="0" bIns="0" rIns="0">
            <a:spAutoFit/>
          </a:bodyPr>
          <a:lstStyle/>
          <a:p>
            <a:pPr algn="ctr">
              <a:lnSpc>
                <a:spcPts val="8399"/>
              </a:lnSpc>
            </a:pPr>
            <a:r>
              <a:rPr lang="en-US" sz="4999" spc="74">
                <a:solidFill>
                  <a:srgbClr val="000000"/>
                </a:solidFill>
                <a:latin typeface="Montserrat"/>
              </a:rPr>
              <a:t>Apa itu WAF?</a:t>
            </a:r>
          </a:p>
        </p:txBody>
      </p:sp>
      <p:sp>
        <p:nvSpPr>
          <p:cNvPr name="TextBox 8" id="8"/>
          <p:cNvSpPr txBox="true"/>
          <p:nvPr/>
        </p:nvSpPr>
        <p:spPr>
          <a:xfrm rot="0">
            <a:off x="746625" y="3401741"/>
            <a:ext cx="7494000" cy="3525022"/>
          </a:xfrm>
          <a:prstGeom prst="rect">
            <a:avLst/>
          </a:prstGeom>
        </p:spPr>
        <p:txBody>
          <a:bodyPr anchor="t" rtlCol="false" tIns="0" lIns="0" bIns="0" rIns="0">
            <a:spAutoFit/>
          </a:bodyPr>
          <a:lstStyle/>
          <a:p>
            <a:pPr algn="l">
              <a:lnSpc>
                <a:spcPts val="4702"/>
              </a:lnSpc>
            </a:pPr>
            <a:r>
              <a:rPr lang="en-US" sz="2799">
                <a:solidFill>
                  <a:srgbClr val="000000"/>
                </a:solidFill>
                <a:latin typeface="Arimo"/>
              </a:rPr>
              <a:t>Web Application Firewall (WAF) adalah sebuah firewall yang memonitor, filter, dan memblok data yang berasal dari client ke sebuah website atau aplikasi web. Dengan adanya WAF, aplikasi yang tadinya tidak secure bisa menjadi secure karena adanya WAF</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36" t="0" r="-36" b="0"/>
            </a:stretch>
          </a:blipFill>
        </p:spPr>
      </p:sp>
      <p:sp>
        <p:nvSpPr>
          <p:cNvPr name="Freeform 3" id="3"/>
          <p:cNvSpPr/>
          <p:nvPr/>
        </p:nvSpPr>
        <p:spPr>
          <a:xfrm flipH="false" flipV="false" rot="0">
            <a:off x="14543591" y="478078"/>
            <a:ext cx="3455492" cy="1228157"/>
          </a:xfrm>
          <a:custGeom>
            <a:avLst/>
            <a:gdLst/>
            <a:ahLst/>
            <a:cxnLst/>
            <a:rect r="r" b="b" t="t" l="l"/>
            <a:pathLst>
              <a:path h="1228157" w="3455492">
                <a:moveTo>
                  <a:pt x="0" y="0"/>
                </a:moveTo>
                <a:lnTo>
                  <a:pt x="3455492" y="0"/>
                </a:lnTo>
                <a:lnTo>
                  <a:pt x="3455492" y="1228156"/>
                </a:lnTo>
                <a:lnTo>
                  <a:pt x="0" y="1228156"/>
                </a:lnTo>
                <a:lnTo>
                  <a:pt x="0" y="0"/>
                </a:lnTo>
                <a:close/>
              </a:path>
            </a:pathLst>
          </a:custGeom>
          <a:blipFill>
            <a:blip r:embed="rId4"/>
            <a:stretch>
              <a:fillRect l="0" t="0" r="0" b="0"/>
            </a:stretch>
          </a:blipFill>
        </p:spPr>
      </p:sp>
      <p:grpSp>
        <p:nvGrpSpPr>
          <p:cNvPr name="Group 4" id="4"/>
          <p:cNvGrpSpPr/>
          <p:nvPr/>
        </p:nvGrpSpPr>
        <p:grpSpPr>
          <a:xfrm rot="0">
            <a:off x="0" y="0"/>
            <a:ext cx="47625" cy="10480913"/>
            <a:chOff x="0" y="0"/>
            <a:chExt cx="12543" cy="2760405"/>
          </a:xfrm>
        </p:grpSpPr>
        <p:sp>
          <p:nvSpPr>
            <p:cNvPr name="Freeform 5" id="5"/>
            <p:cNvSpPr/>
            <p:nvPr/>
          </p:nvSpPr>
          <p:spPr>
            <a:xfrm flipH="false" flipV="false" rot="0">
              <a:off x="0" y="0"/>
              <a:ext cx="12543" cy="2760405"/>
            </a:xfrm>
            <a:custGeom>
              <a:avLst/>
              <a:gdLst/>
              <a:ahLst/>
              <a:cxnLst/>
              <a:rect r="r" b="b" t="t" l="l"/>
              <a:pathLst>
                <a:path h="2760405" w="12543">
                  <a:moveTo>
                    <a:pt x="0" y="0"/>
                  </a:moveTo>
                  <a:lnTo>
                    <a:pt x="12543" y="0"/>
                  </a:lnTo>
                  <a:lnTo>
                    <a:pt x="12543" y="2760405"/>
                  </a:lnTo>
                  <a:lnTo>
                    <a:pt x="0" y="2760405"/>
                  </a:lnTo>
                  <a:close/>
                </a:path>
              </a:pathLst>
            </a:custGeom>
            <a:solidFill>
              <a:srgbClr val="FBF9F8"/>
            </a:solidFill>
          </p:spPr>
        </p:sp>
        <p:sp>
          <p:nvSpPr>
            <p:cNvPr name="TextBox 6" id="6"/>
            <p:cNvSpPr txBox="true"/>
            <p:nvPr/>
          </p:nvSpPr>
          <p:spPr>
            <a:xfrm>
              <a:off x="0" y="-47625"/>
              <a:ext cx="812800" cy="860425"/>
            </a:xfrm>
            <a:prstGeom prst="rect">
              <a:avLst/>
            </a:prstGeom>
          </p:spPr>
          <p:txBody>
            <a:bodyPr anchor="ctr" rtlCol="false" tIns="50800" lIns="50800" bIns="50800" rIns="50800"/>
            <a:lstStyle/>
            <a:p>
              <a:pPr algn="ctr">
                <a:lnSpc>
                  <a:spcPts val="2659"/>
                </a:lnSpc>
              </a:pPr>
            </a:p>
          </p:txBody>
        </p:sp>
      </p:grpSp>
      <p:sp>
        <p:nvSpPr>
          <p:cNvPr name="Freeform 7" id="7"/>
          <p:cNvSpPr/>
          <p:nvPr/>
        </p:nvSpPr>
        <p:spPr>
          <a:xfrm flipH="false" flipV="false" rot="0">
            <a:off x="1028700" y="2921177"/>
            <a:ext cx="16412240" cy="6170171"/>
          </a:xfrm>
          <a:custGeom>
            <a:avLst/>
            <a:gdLst/>
            <a:ahLst/>
            <a:cxnLst/>
            <a:rect r="r" b="b" t="t" l="l"/>
            <a:pathLst>
              <a:path h="6170171" w="16412240">
                <a:moveTo>
                  <a:pt x="0" y="0"/>
                </a:moveTo>
                <a:lnTo>
                  <a:pt x="16412240" y="0"/>
                </a:lnTo>
                <a:lnTo>
                  <a:pt x="16412240" y="6170171"/>
                </a:lnTo>
                <a:lnTo>
                  <a:pt x="0" y="6170171"/>
                </a:lnTo>
                <a:lnTo>
                  <a:pt x="0" y="0"/>
                </a:lnTo>
                <a:close/>
              </a:path>
            </a:pathLst>
          </a:custGeom>
          <a:blipFill>
            <a:blip r:embed="rId5"/>
            <a:stretch>
              <a:fillRect l="0" t="0" r="0" b="0"/>
            </a:stretch>
          </a:blipFill>
        </p:spPr>
      </p:sp>
      <p:sp>
        <p:nvSpPr>
          <p:cNvPr name="TextBox 8" id="8"/>
          <p:cNvSpPr txBox="true"/>
          <p:nvPr/>
        </p:nvSpPr>
        <p:spPr>
          <a:xfrm rot="0">
            <a:off x="5088731" y="1250235"/>
            <a:ext cx="8110538" cy="1368424"/>
          </a:xfrm>
          <a:prstGeom prst="rect">
            <a:avLst/>
          </a:prstGeom>
        </p:spPr>
        <p:txBody>
          <a:bodyPr anchor="t" rtlCol="false" tIns="0" lIns="0" bIns="0" rIns="0">
            <a:spAutoFit/>
          </a:bodyPr>
          <a:lstStyle/>
          <a:p>
            <a:pPr algn="ctr">
              <a:lnSpc>
                <a:spcPts val="11200"/>
              </a:lnSpc>
            </a:pPr>
            <a:r>
              <a:rPr lang="en-US" sz="8000">
                <a:solidFill>
                  <a:srgbClr val="FFFFFF"/>
                </a:solidFill>
                <a:latin typeface="Montserrat Bold"/>
              </a:rPr>
              <a:t>Cara Kerja WAF</a:t>
            </a:r>
          </a:p>
        </p:txBody>
      </p:sp>
      <p:sp>
        <p:nvSpPr>
          <p:cNvPr name="TextBox 9" id="9"/>
          <p:cNvSpPr txBox="true"/>
          <p:nvPr/>
        </p:nvSpPr>
        <p:spPr>
          <a:xfrm rot="0">
            <a:off x="5294650" y="9358048"/>
            <a:ext cx="7698700" cy="266700"/>
          </a:xfrm>
          <a:prstGeom prst="rect">
            <a:avLst/>
          </a:prstGeom>
        </p:spPr>
        <p:txBody>
          <a:bodyPr anchor="t" rtlCol="false" tIns="0" lIns="0" bIns="0" rIns="0">
            <a:spAutoFit/>
          </a:bodyPr>
          <a:lstStyle/>
          <a:p>
            <a:pPr algn="ctr">
              <a:lnSpc>
                <a:spcPts val="2100"/>
              </a:lnSpc>
            </a:pPr>
            <a:r>
              <a:rPr lang="en-US" sz="1500">
                <a:solidFill>
                  <a:srgbClr val="FFFFFF"/>
                </a:solidFill>
                <a:latin typeface="Montserrat Bold"/>
              </a:rPr>
              <a:t>sources : https://www.indusface.com/blog/how-web-application-firewall-works/</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36" t="0" r="-36" b="0"/>
            </a:stretch>
          </a:blipFill>
        </p:spPr>
      </p:sp>
      <p:sp>
        <p:nvSpPr>
          <p:cNvPr name="Freeform 3" id="3"/>
          <p:cNvSpPr/>
          <p:nvPr/>
        </p:nvSpPr>
        <p:spPr>
          <a:xfrm flipH="false" flipV="false" rot="0">
            <a:off x="14543591" y="478078"/>
            <a:ext cx="3455492" cy="1228157"/>
          </a:xfrm>
          <a:custGeom>
            <a:avLst/>
            <a:gdLst/>
            <a:ahLst/>
            <a:cxnLst/>
            <a:rect r="r" b="b" t="t" l="l"/>
            <a:pathLst>
              <a:path h="1228157" w="3455492">
                <a:moveTo>
                  <a:pt x="0" y="0"/>
                </a:moveTo>
                <a:lnTo>
                  <a:pt x="3455492" y="0"/>
                </a:lnTo>
                <a:lnTo>
                  <a:pt x="3455492" y="1228156"/>
                </a:lnTo>
                <a:lnTo>
                  <a:pt x="0" y="1228156"/>
                </a:lnTo>
                <a:lnTo>
                  <a:pt x="0" y="0"/>
                </a:lnTo>
                <a:close/>
              </a:path>
            </a:pathLst>
          </a:custGeom>
          <a:blipFill>
            <a:blip r:embed="rId4"/>
            <a:stretch>
              <a:fillRect l="0" t="0" r="0" b="0"/>
            </a:stretch>
          </a:blipFill>
        </p:spPr>
      </p:sp>
      <p:grpSp>
        <p:nvGrpSpPr>
          <p:cNvPr name="Group 4" id="4"/>
          <p:cNvGrpSpPr/>
          <p:nvPr/>
        </p:nvGrpSpPr>
        <p:grpSpPr>
          <a:xfrm rot="0">
            <a:off x="0" y="0"/>
            <a:ext cx="9920458" cy="10480913"/>
            <a:chOff x="0" y="0"/>
            <a:chExt cx="2612796" cy="2760405"/>
          </a:xfrm>
        </p:grpSpPr>
        <p:sp>
          <p:nvSpPr>
            <p:cNvPr name="Freeform 5" id="5"/>
            <p:cNvSpPr/>
            <p:nvPr/>
          </p:nvSpPr>
          <p:spPr>
            <a:xfrm flipH="false" flipV="false" rot="0">
              <a:off x="0" y="0"/>
              <a:ext cx="2612796" cy="2760405"/>
            </a:xfrm>
            <a:custGeom>
              <a:avLst/>
              <a:gdLst/>
              <a:ahLst/>
              <a:cxnLst/>
              <a:rect r="r" b="b" t="t" l="l"/>
              <a:pathLst>
                <a:path h="2760405" w="2612796">
                  <a:moveTo>
                    <a:pt x="0" y="0"/>
                  </a:moveTo>
                  <a:lnTo>
                    <a:pt x="2612796" y="0"/>
                  </a:lnTo>
                  <a:lnTo>
                    <a:pt x="2612796" y="2760405"/>
                  </a:lnTo>
                  <a:lnTo>
                    <a:pt x="0" y="2760405"/>
                  </a:lnTo>
                  <a:close/>
                </a:path>
              </a:pathLst>
            </a:custGeom>
            <a:solidFill>
              <a:srgbClr val="FBF9F8"/>
            </a:solidFill>
          </p:spPr>
        </p:sp>
        <p:sp>
          <p:nvSpPr>
            <p:cNvPr name="TextBox 6" id="6"/>
            <p:cNvSpPr txBox="true"/>
            <p:nvPr/>
          </p:nvSpPr>
          <p:spPr>
            <a:xfrm>
              <a:off x="0" y="-47625"/>
              <a:ext cx="812800" cy="860425"/>
            </a:xfrm>
            <a:prstGeom prst="rect">
              <a:avLst/>
            </a:prstGeom>
          </p:spPr>
          <p:txBody>
            <a:bodyPr anchor="ctr" rtlCol="false" tIns="50800" lIns="50800" bIns="50800" rIns="50800"/>
            <a:lstStyle/>
            <a:p>
              <a:pPr algn="ctr">
                <a:lnSpc>
                  <a:spcPts val="2659"/>
                </a:lnSpc>
              </a:pPr>
            </a:p>
          </p:txBody>
        </p:sp>
      </p:grpSp>
      <p:sp>
        <p:nvSpPr>
          <p:cNvPr name="Freeform 7" id="7"/>
          <p:cNvSpPr/>
          <p:nvPr/>
        </p:nvSpPr>
        <p:spPr>
          <a:xfrm flipH="false" flipV="false" rot="0">
            <a:off x="10659060" y="3105812"/>
            <a:ext cx="6600240" cy="4640794"/>
          </a:xfrm>
          <a:custGeom>
            <a:avLst/>
            <a:gdLst/>
            <a:ahLst/>
            <a:cxnLst/>
            <a:rect r="r" b="b" t="t" l="l"/>
            <a:pathLst>
              <a:path h="4640794" w="6600240">
                <a:moveTo>
                  <a:pt x="0" y="0"/>
                </a:moveTo>
                <a:lnTo>
                  <a:pt x="6600240" y="0"/>
                </a:lnTo>
                <a:lnTo>
                  <a:pt x="6600240" y="4640794"/>
                </a:lnTo>
                <a:lnTo>
                  <a:pt x="0" y="4640794"/>
                </a:lnTo>
                <a:lnTo>
                  <a:pt x="0" y="0"/>
                </a:lnTo>
                <a:close/>
              </a:path>
            </a:pathLst>
          </a:custGeom>
          <a:blipFill>
            <a:blip r:embed="rId5"/>
            <a:stretch>
              <a:fillRect l="0" t="0" r="0" b="0"/>
            </a:stretch>
          </a:blipFill>
        </p:spPr>
      </p:sp>
      <p:sp>
        <p:nvSpPr>
          <p:cNvPr name="TextBox 8" id="8"/>
          <p:cNvSpPr txBox="true"/>
          <p:nvPr/>
        </p:nvSpPr>
        <p:spPr>
          <a:xfrm rot="0">
            <a:off x="379621" y="373303"/>
            <a:ext cx="9161217" cy="1749412"/>
          </a:xfrm>
          <a:prstGeom prst="rect">
            <a:avLst/>
          </a:prstGeom>
        </p:spPr>
        <p:txBody>
          <a:bodyPr anchor="t" rtlCol="false" tIns="0" lIns="0" bIns="0" rIns="0">
            <a:spAutoFit/>
          </a:bodyPr>
          <a:lstStyle/>
          <a:p>
            <a:pPr algn="ctr">
              <a:lnSpc>
                <a:spcPts val="7000"/>
              </a:lnSpc>
            </a:pPr>
            <a:r>
              <a:rPr lang="en-US" sz="5000">
                <a:solidFill>
                  <a:srgbClr val="000000"/>
                </a:solidFill>
                <a:latin typeface="Glacial Indifference Bold"/>
              </a:rPr>
              <a:t>Apa saja yang di amankan dan dilakukan WAF?</a:t>
            </a:r>
          </a:p>
        </p:txBody>
      </p:sp>
      <p:sp>
        <p:nvSpPr>
          <p:cNvPr name="TextBox 9" id="9"/>
          <p:cNvSpPr txBox="true"/>
          <p:nvPr/>
        </p:nvSpPr>
        <p:spPr>
          <a:xfrm rot="0">
            <a:off x="563123" y="2924837"/>
            <a:ext cx="8794212" cy="4831789"/>
          </a:xfrm>
          <a:prstGeom prst="rect">
            <a:avLst/>
          </a:prstGeom>
        </p:spPr>
        <p:txBody>
          <a:bodyPr anchor="t" rtlCol="false" tIns="0" lIns="0" bIns="0" rIns="0">
            <a:spAutoFit/>
          </a:bodyPr>
          <a:lstStyle/>
          <a:p>
            <a:pPr marL="709151" indent="-354576" lvl="1">
              <a:lnSpc>
                <a:spcPts val="5518"/>
              </a:lnSpc>
              <a:buFont typeface="Arial"/>
              <a:buChar char="•"/>
            </a:pPr>
            <a:r>
              <a:rPr lang="en-US" sz="3284">
                <a:solidFill>
                  <a:srgbClr val="000000"/>
                </a:solidFill>
                <a:latin typeface="Arimo"/>
              </a:rPr>
              <a:t>Application Layer Attacks</a:t>
            </a:r>
          </a:p>
          <a:p>
            <a:pPr marL="709151" indent="-354576" lvl="1">
              <a:lnSpc>
                <a:spcPts val="5518"/>
              </a:lnSpc>
              <a:buFont typeface="Arial"/>
              <a:buChar char="•"/>
            </a:pPr>
            <a:r>
              <a:rPr lang="en-US" sz="3284">
                <a:solidFill>
                  <a:srgbClr val="000000"/>
                </a:solidFill>
                <a:latin typeface="Arimo"/>
              </a:rPr>
              <a:t>Web App &amp; API Attacks</a:t>
            </a:r>
          </a:p>
          <a:p>
            <a:pPr marL="709151" indent="-354576" lvl="1">
              <a:lnSpc>
                <a:spcPts val="5518"/>
              </a:lnSpc>
              <a:buFont typeface="Arial"/>
              <a:buChar char="•"/>
            </a:pPr>
            <a:r>
              <a:rPr lang="en-US" sz="3284">
                <a:solidFill>
                  <a:srgbClr val="000000"/>
                </a:solidFill>
                <a:latin typeface="Arimo"/>
              </a:rPr>
              <a:t>DevOps Security Automation</a:t>
            </a:r>
          </a:p>
          <a:p>
            <a:pPr marL="709151" indent="-354576" lvl="1">
              <a:lnSpc>
                <a:spcPts val="5518"/>
              </a:lnSpc>
              <a:buFont typeface="Arial"/>
              <a:buChar char="•"/>
            </a:pPr>
            <a:r>
              <a:rPr lang="en-US" sz="3284">
                <a:solidFill>
                  <a:srgbClr val="000000"/>
                </a:solidFill>
                <a:latin typeface="Arimo"/>
              </a:rPr>
              <a:t>Automated Attack Bots </a:t>
            </a:r>
          </a:p>
          <a:p>
            <a:pPr marL="709151" indent="-354576" lvl="1">
              <a:lnSpc>
                <a:spcPts val="5518"/>
              </a:lnSpc>
              <a:buFont typeface="Arial"/>
              <a:buChar char="•"/>
            </a:pPr>
            <a:r>
              <a:rPr lang="en-US" sz="3284">
                <a:solidFill>
                  <a:srgbClr val="000000"/>
                </a:solidFill>
                <a:latin typeface="Arimo"/>
              </a:rPr>
              <a:t>Security as Code</a:t>
            </a:r>
          </a:p>
          <a:p>
            <a:pPr marL="709151" indent="-354576" lvl="1">
              <a:lnSpc>
                <a:spcPts val="5518"/>
              </a:lnSpc>
              <a:buFont typeface="Arial"/>
              <a:buChar char="•"/>
            </a:pPr>
            <a:r>
              <a:rPr lang="en-US" sz="3284">
                <a:solidFill>
                  <a:srgbClr val="000000"/>
                </a:solidFill>
                <a:latin typeface="Arimo"/>
              </a:rPr>
              <a:t>in-Browser Data Encryption</a:t>
            </a:r>
          </a:p>
          <a:p>
            <a:pPr algn="l" marL="709151" indent="-354576" lvl="1">
              <a:lnSpc>
                <a:spcPts val="5518"/>
              </a:lnSpc>
              <a:buFont typeface="Arial"/>
              <a:buChar char="•"/>
            </a:pPr>
            <a:r>
              <a:rPr lang="en-US" sz="3284">
                <a:solidFill>
                  <a:srgbClr val="000000"/>
                </a:solidFill>
                <a:latin typeface="Arimo"/>
              </a:rPr>
              <a:t>L7 DoS Detection &amp; Mitigation</a:t>
            </a:r>
          </a:p>
        </p:txBody>
      </p:sp>
      <p:sp>
        <p:nvSpPr>
          <p:cNvPr name="TextBox 10" id="10"/>
          <p:cNvSpPr txBox="true"/>
          <p:nvPr/>
        </p:nvSpPr>
        <p:spPr>
          <a:xfrm rot="0">
            <a:off x="1635707" y="9220200"/>
            <a:ext cx="6649045" cy="266700"/>
          </a:xfrm>
          <a:prstGeom prst="rect">
            <a:avLst/>
          </a:prstGeom>
        </p:spPr>
        <p:txBody>
          <a:bodyPr anchor="t" rtlCol="false" tIns="0" lIns="0" bIns="0" rIns="0">
            <a:spAutoFit/>
          </a:bodyPr>
          <a:lstStyle/>
          <a:p>
            <a:pPr algn="ctr">
              <a:lnSpc>
                <a:spcPts val="2100"/>
              </a:lnSpc>
            </a:pPr>
            <a:r>
              <a:rPr lang="en-US" sz="1500">
                <a:solidFill>
                  <a:srgbClr val="000000"/>
                </a:solidFill>
                <a:latin typeface="Montserrat Bold"/>
              </a:rPr>
              <a:t>sources : https://www.f5.com/products/big-ip-services/advanced-waf</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36" t="0" r="-36" b="0"/>
            </a:stretch>
          </a:blipFill>
        </p:spPr>
      </p:sp>
      <p:sp>
        <p:nvSpPr>
          <p:cNvPr name="Freeform 3" id="3"/>
          <p:cNvSpPr/>
          <p:nvPr/>
        </p:nvSpPr>
        <p:spPr>
          <a:xfrm flipH="false" flipV="false" rot="0">
            <a:off x="14543591" y="478078"/>
            <a:ext cx="3455492" cy="1228157"/>
          </a:xfrm>
          <a:custGeom>
            <a:avLst/>
            <a:gdLst/>
            <a:ahLst/>
            <a:cxnLst/>
            <a:rect r="r" b="b" t="t" l="l"/>
            <a:pathLst>
              <a:path h="1228157" w="3455492">
                <a:moveTo>
                  <a:pt x="0" y="0"/>
                </a:moveTo>
                <a:lnTo>
                  <a:pt x="3455492" y="0"/>
                </a:lnTo>
                <a:lnTo>
                  <a:pt x="3455492" y="1228156"/>
                </a:lnTo>
                <a:lnTo>
                  <a:pt x="0" y="1228156"/>
                </a:lnTo>
                <a:lnTo>
                  <a:pt x="0" y="0"/>
                </a:lnTo>
                <a:close/>
              </a:path>
            </a:pathLst>
          </a:custGeom>
          <a:blipFill>
            <a:blip r:embed="rId4"/>
            <a:stretch>
              <a:fillRect l="0" t="0" r="0" b="0"/>
            </a:stretch>
          </a:blipFill>
        </p:spPr>
      </p:sp>
      <p:grpSp>
        <p:nvGrpSpPr>
          <p:cNvPr name="Group 4" id="4"/>
          <p:cNvGrpSpPr/>
          <p:nvPr/>
        </p:nvGrpSpPr>
        <p:grpSpPr>
          <a:xfrm rot="0">
            <a:off x="0" y="0"/>
            <a:ext cx="9920458" cy="10480913"/>
            <a:chOff x="0" y="0"/>
            <a:chExt cx="2612796" cy="2760405"/>
          </a:xfrm>
        </p:grpSpPr>
        <p:sp>
          <p:nvSpPr>
            <p:cNvPr name="Freeform 5" id="5"/>
            <p:cNvSpPr/>
            <p:nvPr/>
          </p:nvSpPr>
          <p:spPr>
            <a:xfrm flipH="false" flipV="false" rot="0">
              <a:off x="0" y="0"/>
              <a:ext cx="2612796" cy="2760405"/>
            </a:xfrm>
            <a:custGeom>
              <a:avLst/>
              <a:gdLst/>
              <a:ahLst/>
              <a:cxnLst/>
              <a:rect r="r" b="b" t="t" l="l"/>
              <a:pathLst>
                <a:path h="2760405" w="2612796">
                  <a:moveTo>
                    <a:pt x="0" y="0"/>
                  </a:moveTo>
                  <a:lnTo>
                    <a:pt x="2612796" y="0"/>
                  </a:lnTo>
                  <a:lnTo>
                    <a:pt x="2612796" y="2760405"/>
                  </a:lnTo>
                  <a:lnTo>
                    <a:pt x="0" y="2760405"/>
                  </a:lnTo>
                  <a:close/>
                </a:path>
              </a:pathLst>
            </a:custGeom>
            <a:solidFill>
              <a:srgbClr val="FBF9F8"/>
            </a:solidFill>
          </p:spPr>
        </p:sp>
        <p:sp>
          <p:nvSpPr>
            <p:cNvPr name="TextBox 6" id="6"/>
            <p:cNvSpPr txBox="true"/>
            <p:nvPr/>
          </p:nvSpPr>
          <p:spPr>
            <a:xfrm>
              <a:off x="0" y="-47625"/>
              <a:ext cx="812800" cy="860425"/>
            </a:xfrm>
            <a:prstGeom prst="rect">
              <a:avLst/>
            </a:prstGeom>
          </p:spPr>
          <p:txBody>
            <a:bodyPr anchor="ctr" rtlCol="false" tIns="50800" lIns="50800" bIns="50800" rIns="50800"/>
            <a:lstStyle/>
            <a:p>
              <a:pPr algn="ctr">
                <a:lnSpc>
                  <a:spcPts val="2659"/>
                </a:lnSpc>
              </a:pPr>
            </a:p>
          </p:txBody>
        </p:sp>
      </p:grpSp>
      <p:sp>
        <p:nvSpPr>
          <p:cNvPr name="Freeform 7" id="7"/>
          <p:cNvSpPr/>
          <p:nvPr/>
        </p:nvSpPr>
        <p:spPr>
          <a:xfrm flipH="false" flipV="false" rot="0">
            <a:off x="10271205" y="2843434"/>
            <a:ext cx="7460714" cy="4976296"/>
          </a:xfrm>
          <a:custGeom>
            <a:avLst/>
            <a:gdLst/>
            <a:ahLst/>
            <a:cxnLst/>
            <a:rect r="r" b="b" t="t" l="l"/>
            <a:pathLst>
              <a:path h="4976296" w="7460714">
                <a:moveTo>
                  <a:pt x="0" y="0"/>
                </a:moveTo>
                <a:lnTo>
                  <a:pt x="7460714" y="0"/>
                </a:lnTo>
                <a:lnTo>
                  <a:pt x="7460714" y="4976297"/>
                </a:lnTo>
                <a:lnTo>
                  <a:pt x="0" y="4976297"/>
                </a:lnTo>
                <a:lnTo>
                  <a:pt x="0" y="0"/>
                </a:lnTo>
                <a:close/>
              </a:path>
            </a:pathLst>
          </a:custGeom>
          <a:blipFill>
            <a:blip r:embed="rId5"/>
            <a:stretch>
              <a:fillRect l="0" t="0" r="0" b="0"/>
            </a:stretch>
          </a:blipFill>
        </p:spPr>
      </p:sp>
      <p:sp>
        <p:nvSpPr>
          <p:cNvPr name="TextBox 8" id="8"/>
          <p:cNvSpPr txBox="true"/>
          <p:nvPr/>
        </p:nvSpPr>
        <p:spPr>
          <a:xfrm rot="0">
            <a:off x="379621" y="373303"/>
            <a:ext cx="9161217" cy="863587"/>
          </a:xfrm>
          <a:prstGeom prst="rect">
            <a:avLst/>
          </a:prstGeom>
        </p:spPr>
        <p:txBody>
          <a:bodyPr anchor="t" rtlCol="false" tIns="0" lIns="0" bIns="0" rIns="0">
            <a:spAutoFit/>
          </a:bodyPr>
          <a:lstStyle/>
          <a:p>
            <a:pPr algn="ctr">
              <a:lnSpc>
                <a:spcPts val="7000"/>
              </a:lnSpc>
            </a:pPr>
            <a:r>
              <a:rPr lang="en-US" sz="5000">
                <a:solidFill>
                  <a:srgbClr val="000000"/>
                </a:solidFill>
                <a:latin typeface="Glacial Indifference Bold"/>
              </a:rPr>
              <a:t>Seberapa Penting WAF?</a:t>
            </a:r>
          </a:p>
        </p:txBody>
      </p:sp>
      <p:sp>
        <p:nvSpPr>
          <p:cNvPr name="TextBox 9" id="9"/>
          <p:cNvSpPr txBox="true"/>
          <p:nvPr/>
        </p:nvSpPr>
        <p:spPr>
          <a:xfrm rot="0">
            <a:off x="1213229" y="2189978"/>
            <a:ext cx="7494000" cy="7068322"/>
          </a:xfrm>
          <a:prstGeom prst="rect">
            <a:avLst/>
          </a:prstGeom>
        </p:spPr>
        <p:txBody>
          <a:bodyPr anchor="t" rtlCol="false" tIns="0" lIns="0" bIns="0" rIns="0">
            <a:spAutoFit/>
          </a:bodyPr>
          <a:lstStyle/>
          <a:p>
            <a:pPr algn="l">
              <a:lnSpc>
                <a:spcPts val="4702"/>
              </a:lnSpc>
            </a:pPr>
            <a:r>
              <a:rPr lang="en-US" sz="2799">
                <a:solidFill>
                  <a:srgbClr val="000000"/>
                </a:solidFill>
                <a:latin typeface="Arimo"/>
              </a:rPr>
              <a:t>Jelas adanya WAF ini akan sangat penting bagi suatu perusahaan baik yang level bawah ataupun sudah level enterprise, dengan adanya WAF ini akan sangat membantu keamanan pada sistem digital tanpa perlu memiliki SDM yang handal dalam mengamankan sistem, hanya perlu orang yang dapat melakukan manage &amp; control WAF nya saja aplikasi sudah dipastikan tetap aman. Intinya developer atau programmer pemula pun akan tetap bisa membuat aplikasi menjadi secure dengan adanya WAF</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36" t="0" r="-36" b="0"/>
            </a:stretch>
          </a:blipFill>
        </p:spPr>
      </p:sp>
      <p:sp>
        <p:nvSpPr>
          <p:cNvPr name="Freeform 3" id="3"/>
          <p:cNvSpPr/>
          <p:nvPr/>
        </p:nvSpPr>
        <p:spPr>
          <a:xfrm flipH="false" flipV="false" rot="0">
            <a:off x="14543591" y="478078"/>
            <a:ext cx="3455492" cy="1228157"/>
          </a:xfrm>
          <a:custGeom>
            <a:avLst/>
            <a:gdLst/>
            <a:ahLst/>
            <a:cxnLst/>
            <a:rect r="r" b="b" t="t" l="l"/>
            <a:pathLst>
              <a:path h="1228157" w="3455492">
                <a:moveTo>
                  <a:pt x="0" y="0"/>
                </a:moveTo>
                <a:lnTo>
                  <a:pt x="3455492" y="0"/>
                </a:lnTo>
                <a:lnTo>
                  <a:pt x="3455492" y="1228157"/>
                </a:lnTo>
                <a:lnTo>
                  <a:pt x="0" y="1228157"/>
                </a:lnTo>
                <a:lnTo>
                  <a:pt x="0" y="0"/>
                </a:lnTo>
                <a:close/>
              </a:path>
            </a:pathLst>
          </a:custGeom>
          <a:blipFill>
            <a:blip r:embed="rId4"/>
            <a:stretch>
              <a:fillRect l="0" t="0" r="0" b="0"/>
            </a:stretch>
          </a:blipFill>
        </p:spPr>
      </p:sp>
      <p:sp>
        <p:nvSpPr>
          <p:cNvPr name="Freeform 4" id="4"/>
          <p:cNvSpPr/>
          <p:nvPr/>
        </p:nvSpPr>
        <p:spPr>
          <a:xfrm flipH="false" flipV="false" rot="0">
            <a:off x="825888" y="2310072"/>
            <a:ext cx="4884140" cy="4938952"/>
          </a:xfrm>
          <a:custGeom>
            <a:avLst/>
            <a:gdLst/>
            <a:ahLst/>
            <a:cxnLst/>
            <a:rect r="r" b="b" t="t" l="l"/>
            <a:pathLst>
              <a:path h="4938952" w="4884140">
                <a:moveTo>
                  <a:pt x="0" y="0"/>
                </a:moveTo>
                <a:lnTo>
                  <a:pt x="4884139" y="0"/>
                </a:lnTo>
                <a:lnTo>
                  <a:pt x="4884139" y="4938952"/>
                </a:lnTo>
                <a:lnTo>
                  <a:pt x="0" y="4938952"/>
                </a:lnTo>
                <a:lnTo>
                  <a:pt x="0" y="0"/>
                </a:lnTo>
                <a:close/>
              </a:path>
            </a:pathLst>
          </a:custGeom>
          <a:blipFill>
            <a:blip r:embed="rId5"/>
            <a:stretch>
              <a:fillRect l="-47868" t="-8415" r="-48400" b="-8941"/>
            </a:stretch>
          </a:blipFill>
        </p:spPr>
      </p:sp>
      <p:sp>
        <p:nvSpPr>
          <p:cNvPr name="TextBox 5" id="5"/>
          <p:cNvSpPr txBox="true"/>
          <p:nvPr/>
        </p:nvSpPr>
        <p:spPr>
          <a:xfrm rot="0">
            <a:off x="4753874" y="2514101"/>
            <a:ext cx="11881971" cy="4734922"/>
          </a:xfrm>
          <a:prstGeom prst="rect">
            <a:avLst/>
          </a:prstGeom>
        </p:spPr>
        <p:txBody>
          <a:bodyPr anchor="t" rtlCol="false" tIns="0" lIns="0" bIns="0" rIns="0">
            <a:spAutoFit/>
          </a:bodyPr>
          <a:lstStyle/>
          <a:p>
            <a:pPr algn="ctr">
              <a:lnSpc>
                <a:spcPts val="19395"/>
              </a:lnSpc>
            </a:pPr>
            <a:r>
              <a:rPr lang="en-US" sz="11544">
                <a:solidFill>
                  <a:srgbClr val="FFFFFF"/>
                </a:solidFill>
                <a:latin typeface="League Spartan"/>
              </a:rPr>
              <a:t>PRAKTEK</a:t>
            </a:r>
          </a:p>
          <a:p>
            <a:pPr algn="ctr">
              <a:lnSpc>
                <a:spcPts val="19396"/>
              </a:lnSpc>
            </a:pPr>
            <a:r>
              <a:rPr lang="en-US" sz="11545">
                <a:solidFill>
                  <a:srgbClr val="FFFFFF"/>
                </a:solidFill>
                <a:latin typeface="League Spartan"/>
              </a:rPr>
              <a:t>F5 WAF</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36" t="0" r="-36" b="0"/>
            </a:stretch>
          </a:blipFill>
        </p:spPr>
      </p:sp>
      <p:sp>
        <p:nvSpPr>
          <p:cNvPr name="Freeform 3" id="3"/>
          <p:cNvSpPr/>
          <p:nvPr/>
        </p:nvSpPr>
        <p:spPr>
          <a:xfrm flipH="false" flipV="false" rot="0">
            <a:off x="14543591" y="478078"/>
            <a:ext cx="3455492" cy="1228157"/>
          </a:xfrm>
          <a:custGeom>
            <a:avLst/>
            <a:gdLst/>
            <a:ahLst/>
            <a:cxnLst/>
            <a:rect r="r" b="b" t="t" l="l"/>
            <a:pathLst>
              <a:path h="1228157" w="3455492">
                <a:moveTo>
                  <a:pt x="0" y="0"/>
                </a:moveTo>
                <a:lnTo>
                  <a:pt x="3455492" y="0"/>
                </a:lnTo>
                <a:lnTo>
                  <a:pt x="3455492" y="1228157"/>
                </a:lnTo>
                <a:lnTo>
                  <a:pt x="0" y="1228157"/>
                </a:lnTo>
                <a:lnTo>
                  <a:pt x="0" y="0"/>
                </a:lnTo>
                <a:close/>
              </a:path>
            </a:pathLst>
          </a:custGeom>
          <a:blipFill>
            <a:blip r:embed="rId4"/>
            <a:stretch>
              <a:fillRect l="0" t="0" r="0" b="0"/>
            </a:stretch>
          </a:blipFill>
        </p:spPr>
      </p:sp>
      <p:sp>
        <p:nvSpPr>
          <p:cNvPr name="TextBox 4" id="4"/>
          <p:cNvSpPr txBox="true"/>
          <p:nvPr/>
        </p:nvSpPr>
        <p:spPr>
          <a:xfrm rot="0">
            <a:off x="4462912" y="3306077"/>
            <a:ext cx="9362176" cy="2712822"/>
          </a:xfrm>
          <a:prstGeom prst="rect">
            <a:avLst/>
          </a:prstGeom>
        </p:spPr>
        <p:txBody>
          <a:bodyPr anchor="t" rtlCol="false" tIns="0" lIns="0" bIns="0" rIns="0">
            <a:spAutoFit/>
          </a:bodyPr>
          <a:lstStyle/>
          <a:p>
            <a:pPr algn="ctr">
              <a:lnSpc>
                <a:spcPts val="19396"/>
              </a:lnSpc>
            </a:pPr>
            <a:r>
              <a:rPr lang="en-US" sz="11545">
                <a:solidFill>
                  <a:srgbClr val="FFFFFF"/>
                </a:solidFill>
                <a:latin typeface="League Spartan"/>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DAFwAO16t4A</dc:identifier>
  <dcterms:modified xsi:type="dcterms:W3CDTF">2011-08-01T06:04:30Z</dcterms:modified>
  <cp:revision>1</cp:revision>
  <dc:title>Web App Firewall your Ultimate Guardian</dc:title>
</cp:coreProperties>
</file>