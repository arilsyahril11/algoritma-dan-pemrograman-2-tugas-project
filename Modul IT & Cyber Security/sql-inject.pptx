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8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.Sulthan Hadi" userId="5780167080573c55" providerId="LiveId" clId="{32306A71-A84D-4B52-A4C4-EC713C372B18}"/>
    <pc:docChg chg="modSld">
      <pc:chgData name="R.Sulthan Hadi" userId="5780167080573c55" providerId="LiveId" clId="{32306A71-A84D-4B52-A4C4-EC713C372B18}" dt="2023-04-08T06:15:39.274" v="0" actId="20577"/>
      <pc:docMkLst>
        <pc:docMk/>
      </pc:docMkLst>
      <pc:sldChg chg="modSp mod">
        <pc:chgData name="R.Sulthan Hadi" userId="5780167080573c55" providerId="LiveId" clId="{32306A71-A84D-4B52-A4C4-EC713C372B18}" dt="2023-04-08T06:15:39.274" v="0" actId="20577"/>
        <pc:sldMkLst>
          <pc:docMk/>
          <pc:sldMk cId="2028087623" sldId="262"/>
        </pc:sldMkLst>
        <pc:spChg chg="mod">
          <ac:chgData name="R.Sulthan Hadi" userId="5780167080573c55" providerId="LiveId" clId="{32306A71-A84D-4B52-A4C4-EC713C372B18}" dt="2023-04-08T06:15:39.274" v="0" actId="20577"/>
          <ac:spMkLst>
            <pc:docMk/>
            <pc:sldMk cId="2028087623" sldId="262"/>
            <ac:spMk id="18" creationId="{7E5570DA-8DF4-93EC-352B-C5EADCDA79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8A212-5DFF-EA10-2AD1-100B91714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1A270-021E-328B-6B52-B8738299B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06C38-E9FD-6E60-DBA9-576CB85B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73169-5A20-F0DA-3385-69C15549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6034B-88D8-F778-9888-87420883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0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60AE-24B1-A55F-1BB7-646F0A1F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AE4F9-CB1E-0810-E1AF-27EA953CF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61B2A-281D-56E9-E09B-207AA4DE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70A5A-6F55-B4E6-BCA5-EE97C671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44AE9-CD5A-E05C-A319-B8220306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5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E088-8024-E696-C520-7799E540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D72CC-81BD-AEED-FE44-5B041D19A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10B7B-B9B1-0B07-7F73-EEB4B17A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41AB2-E29A-6624-57AE-2232147A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1C628-AC41-9996-6ECB-C1BA3BE3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2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92F1-ECF1-77AF-BB32-77F64A1A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2920-970A-B3D3-A30F-5F5FC2FD9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4BC29-C470-FC5D-8FE8-BC7888569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C7628-A9B8-C49F-8FD6-B3369CD8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84CC7-1E43-960A-BB89-528347C6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4AF8C-C62F-A703-F1DF-790F1346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0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19F6-2DF8-1AD5-0A91-66B428D6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B54E8-3AC8-EA1E-81FC-F76390578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D509-DB85-7EC9-D257-7562E84EC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F62B9-DADC-8BAB-2758-C82820A1C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FCFB4-C6EB-2154-6ECB-84E3E9899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F60C2-6ABE-DFFF-5AE0-5D0E2A0A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E7257-977F-CF73-0AE1-34C1EE582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53650-9BE8-C1CD-2374-4C787CB91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9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D015-26FE-8067-F011-F675E469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3088E-1D57-A6CE-9B66-6BFD5B4B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7935F-9310-5CB5-7845-B4C244A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BAA98-523F-1B67-BAD2-4C5A07A5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77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8B0FE-4953-4D48-BE1F-42742871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D4DB0-8204-5676-74FC-30CCE6AA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2C814-45E1-4EE7-9259-9B597BEA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13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900D-B140-EE4F-773C-13F48B3C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002B-6228-7C2E-7C18-C70F619EA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3DF8E-30E7-0B86-57EE-6CC61E585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A10CD-2FE1-1B57-703D-D2C1CD54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66C2A-406F-F2C4-82A8-30076BAB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D25F-A560-ED35-9FF2-98DA06B2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0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62D5-E55F-6DD0-4368-DBA84304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27FB7-B8A5-1512-9199-655AAA973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257CA-FFA6-425A-90CF-640E1CD6A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71AF7-448C-3160-1B5A-B9CA4A07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B6D2D-9A17-CB7B-2D44-B148C94C9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CD00D-410B-478C-F939-B1615FD1F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6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F2E1-0E9A-6210-6C73-22500F51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AB210-8256-56E6-5D53-E070C62E7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44E6B-0D8C-CE5E-F210-68D00E43B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AEA0-F394-E52C-508B-9E561024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24E6A-8EDB-3D0C-6C4D-9D599652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4E08C-283D-B8EC-E38D-6F9CE6183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3E749-D9D7-46E3-3D0B-895931255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643FE-45DA-F66D-85C5-09AF861F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426E7-E388-D59D-F103-04FB3C046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B7F50-086F-0B94-5182-483085C4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3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BCF7B-8CC3-FB7B-1D66-FDCB69CAC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AE99B-D0AF-C1A6-7B4B-A16D77F96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06A7-FA95-5096-D562-051E4DA7D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A5D82-0ADF-40B8-BE74-53D0433A2190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1204D-7145-D0D2-252C-FA83537A2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2142-5019-FEDB-A185-E68664ACA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11BB6-EEDC-495C-A591-F53D9F9FE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xworld.com/scripts/codeigniter-admin-panel/" TargetMode="External"/><Relationship Id="rId7" Type="http://schemas.openxmlformats.org/officeDocument/2006/relationships/hyperlink" Target="https://technofaq.org/posts/2019/03/best-white-label-software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xworld.com/scripts/codeigniter-admin-panel/" TargetMode="External"/><Relationship Id="rId7" Type="http://schemas.openxmlformats.org/officeDocument/2006/relationships/hyperlink" Target="https://technofaq.org/posts/2019/03/best-white-label-software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SQL INJECTION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70888-B421-ED49-2C65-F8AD334E0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2767"/>
            <a:ext cx="9144000" cy="519025"/>
          </a:xfrm>
        </p:spPr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R. </a:t>
            </a:r>
            <a:r>
              <a:rPr lang="en-US" dirty="0" err="1">
                <a:solidFill>
                  <a:srgbClr val="00FF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Sulthan</a:t>
            </a:r>
            <a:r>
              <a:rPr lang="en-US" dirty="0">
                <a:solidFill>
                  <a:srgbClr val="00FF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Hadi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~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ISCI Leader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2D5FE-BA4C-EB54-0C23-B8CD4172653A}"/>
              </a:ext>
            </a:extLst>
          </p:cNvPr>
          <p:cNvCxnSpPr/>
          <p:nvPr/>
        </p:nvCxnSpPr>
        <p:spPr>
          <a:xfrm>
            <a:off x="3648221" y="3608437"/>
            <a:ext cx="48955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225676" y="-1130560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068783" y="4751152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56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133" y="1854230"/>
            <a:ext cx="10481733" cy="2387600"/>
          </a:xfrm>
        </p:spPr>
        <p:txBody>
          <a:bodyPr/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DEFINISI SQL INJECTION?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2D5FE-BA4C-EB54-0C23-B8CD4172653A}"/>
              </a:ext>
            </a:extLst>
          </p:cNvPr>
          <p:cNvCxnSpPr/>
          <p:nvPr/>
        </p:nvCxnSpPr>
        <p:spPr>
          <a:xfrm>
            <a:off x="3512754" y="4556703"/>
            <a:ext cx="48955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414362" y="4965440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228440" y="-1272277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13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63" y="747594"/>
            <a:ext cx="5486400" cy="478224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SQL injection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adalah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sebuah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serangan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injeksi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kode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terhadap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celah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keamanan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database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sebuah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aplikasi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atau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website.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936876" y="5410860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794497" y="-1563254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6B6A8E-88D4-2584-1A87-0C8FCEF1B9D3}"/>
              </a:ext>
            </a:extLst>
          </p:cNvPr>
          <p:cNvSpPr txBox="1">
            <a:spLocks/>
          </p:cNvSpPr>
          <p:nvPr/>
        </p:nvSpPr>
        <p:spPr>
          <a:xfrm>
            <a:off x="6498214" y="791028"/>
            <a:ext cx="5486400" cy="4782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SQL injection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terjadi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karena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data yang di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inputkan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user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tidak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di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validasi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oleh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aplikasi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dan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langsung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dimuat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sebagai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query SQL.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Sehingga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inputan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tersebut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di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jalankan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sebagai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bagian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kode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SQL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C3BF3F-0011-6E22-5617-132390195CAB}"/>
              </a:ext>
            </a:extLst>
          </p:cNvPr>
          <p:cNvCxnSpPr>
            <a:cxnSpLocks/>
          </p:cNvCxnSpPr>
          <p:nvPr/>
        </p:nvCxnSpPr>
        <p:spPr>
          <a:xfrm flipH="1">
            <a:off x="6115651" y="569686"/>
            <a:ext cx="9378" cy="571862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Programmer">
            <a:extLst>
              <a:ext uri="{FF2B5EF4-FFF2-40B4-BE49-F238E27FC236}">
                <a16:creationId xmlns:a16="http://schemas.microsoft.com/office/drawing/2014/main" id="{C8E9A7D7-F992-091A-92F8-17DDE2573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093" y="1678274"/>
            <a:ext cx="1450106" cy="1450106"/>
          </a:xfrm>
          <a:prstGeom prst="rect">
            <a:avLst/>
          </a:prstGeom>
        </p:spPr>
      </p:pic>
      <p:pic>
        <p:nvPicPr>
          <p:cNvPr id="35" name="Graphic 34" descr="Internet">
            <a:extLst>
              <a:ext uri="{FF2B5EF4-FFF2-40B4-BE49-F238E27FC236}">
                <a16:creationId xmlns:a16="http://schemas.microsoft.com/office/drawing/2014/main" id="{9DF763CE-C904-D04B-63CD-680732FDA5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48839" y="1891740"/>
            <a:ext cx="1430886" cy="1430886"/>
          </a:xfrm>
          <a:prstGeom prst="rect">
            <a:avLst/>
          </a:prstGeom>
        </p:spPr>
      </p:pic>
      <p:pic>
        <p:nvPicPr>
          <p:cNvPr id="37" name="Graphic 36" descr="Server">
            <a:extLst>
              <a:ext uri="{FF2B5EF4-FFF2-40B4-BE49-F238E27FC236}">
                <a16:creationId xmlns:a16="http://schemas.microsoft.com/office/drawing/2014/main" id="{C7B4B819-8674-942C-496D-6FB8F0D3D8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3737" y="2018932"/>
            <a:ext cx="1127148" cy="1127148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56DCD74-C35C-5963-2FB3-FAD878F26D1A}"/>
              </a:ext>
            </a:extLst>
          </p:cNvPr>
          <p:cNvCxnSpPr>
            <a:stCxn id="33" idx="3"/>
          </p:cNvCxnSpPr>
          <p:nvPr/>
        </p:nvCxnSpPr>
        <p:spPr>
          <a:xfrm>
            <a:off x="1800199" y="2403327"/>
            <a:ext cx="548640" cy="0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E50EE19-5395-5CBA-FF15-01BC6B3EBF7C}"/>
              </a:ext>
            </a:extLst>
          </p:cNvPr>
          <p:cNvCxnSpPr/>
          <p:nvPr/>
        </p:nvCxnSpPr>
        <p:spPr>
          <a:xfrm>
            <a:off x="3779725" y="2520361"/>
            <a:ext cx="548640" cy="0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41" descr="Laptop">
            <a:extLst>
              <a:ext uri="{FF2B5EF4-FFF2-40B4-BE49-F238E27FC236}">
                <a16:creationId xmlns:a16="http://schemas.microsoft.com/office/drawing/2014/main" id="{523B4371-29FD-DED7-57EE-2FDDFF43CA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67990" y="302493"/>
            <a:ext cx="3126507" cy="3126507"/>
          </a:xfrm>
          <a:prstGeom prst="rect">
            <a:avLst/>
          </a:prstGeom>
        </p:spPr>
      </p:pic>
      <p:pic>
        <p:nvPicPr>
          <p:cNvPr id="44" name="Graphic 43" descr="Bug under magnifying glass">
            <a:extLst>
              <a:ext uri="{FF2B5EF4-FFF2-40B4-BE49-F238E27FC236}">
                <a16:creationId xmlns:a16="http://schemas.microsoft.com/office/drawing/2014/main" id="{F5B2F216-B6EE-6110-1F12-8FFDBE5D93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08676" y="1284732"/>
            <a:ext cx="885720" cy="88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43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050" y="372182"/>
            <a:ext cx="4029075" cy="844116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Username : admin</a:t>
            </a:r>
            <a:b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 : </a:t>
            </a:r>
            <a:r>
              <a:rPr lang="en-US" sz="16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adminAdmin</a:t>
            </a:r>
            <a:endParaRPr lang="en-US" sz="16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2007871" y="-1849004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1009490" y="5294746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C09ECC-2507-0489-8160-9133758BC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1050" y="1442948"/>
            <a:ext cx="2476500" cy="160738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58BB62C-2250-1CF5-6138-A1A19F1ABBF2}"/>
              </a:ext>
            </a:extLst>
          </p:cNvPr>
          <p:cNvSpPr txBox="1">
            <a:spLocks/>
          </p:cNvSpPr>
          <p:nvPr/>
        </p:nvSpPr>
        <p:spPr>
          <a:xfrm>
            <a:off x="3448050" y="1365490"/>
            <a:ext cx="5676902" cy="844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SELECT * FROM user WHERE username = ‘admin’ AND password = ‘</a:t>
            </a:r>
            <a:r>
              <a:rPr lang="en-US" sz="16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adminAdmin</a:t>
            </a:r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’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6366CB-DAF0-B60C-81B9-24BF055E1FE9}"/>
              </a:ext>
            </a:extLst>
          </p:cNvPr>
          <p:cNvCxnSpPr>
            <a:cxnSpLocks/>
          </p:cNvCxnSpPr>
          <p:nvPr/>
        </p:nvCxnSpPr>
        <p:spPr>
          <a:xfrm>
            <a:off x="3657600" y="2399042"/>
            <a:ext cx="5048250" cy="0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 descr="Server">
            <a:extLst>
              <a:ext uri="{FF2B5EF4-FFF2-40B4-BE49-F238E27FC236}">
                <a16:creationId xmlns:a16="http://schemas.microsoft.com/office/drawing/2014/main" id="{E3AC98DB-834F-2821-8EEC-E7DC8217A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450" y="971357"/>
            <a:ext cx="2476498" cy="247649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B5F45E-D35D-DCE6-C312-063C1BBF452D}"/>
              </a:ext>
            </a:extLst>
          </p:cNvPr>
          <p:cNvCxnSpPr/>
          <p:nvPr/>
        </p:nvCxnSpPr>
        <p:spPr>
          <a:xfrm flipH="1">
            <a:off x="3657600" y="2914650"/>
            <a:ext cx="5048250" cy="0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CDFA0058-D7FB-67DD-2058-F305EF416CBB}"/>
              </a:ext>
            </a:extLst>
          </p:cNvPr>
          <p:cNvSpPr txBox="1">
            <a:spLocks/>
          </p:cNvSpPr>
          <p:nvPr/>
        </p:nvSpPr>
        <p:spPr>
          <a:xfrm>
            <a:off x="5705475" y="3050330"/>
            <a:ext cx="952500" cy="3242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15AFC9-DD3B-FAC5-575B-DA009F14B17E}"/>
              </a:ext>
            </a:extLst>
          </p:cNvPr>
          <p:cNvCxnSpPr/>
          <p:nvPr/>
        </p:nvCxnSpPr>
        <p:spPr>
          <a:xfrm>
            <a:off x="2019300" y="3212469"/>
            <a:ext cx="0" cy="800295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F0CBE26-9C3B-BD78-2582-0F572465B1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2574" y="4174896"/>
            <a:ext cx="3215026" cy="180975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F39CB82-D3B5-08BE-9953-EA9B572F91ED}"/>
              </a:ext>
            </a:extLst>
          </p:cNvPr>
          <p:cNvSpPr txBox="1">
            <a:spLocks/>
          </p:cNvSpPr>
          <p:nvPr/>
        </p:nvSpPr>
        <p:spPr>
          <a:xfrm>
            <a:off x="2050087" y="3450476"/>
            <a:ext cx="952500" cy="3242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198675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050" y="381153"/>
            <a:ext cx="4029075" cy="844116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Username : ‘or ‘1’ = ‘1</a:t>
            </a:r>
            <a:b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 : ‘or ‘1’ = ‘1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893571" y="5415052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839449" y="-1761017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C09ECC-2507-0489-8160-9133758BC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1050" y="1442948"/>
            <a:ext cx="2476500" cy="160738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58BB62C-2250-1CF5-6138-A1A19F1ABBF2}"/>
              </a:ext>
            </a:extLst>
          </p:cNvPr>
          <p:cNvSpPr txBox="1">
            <a:spLocks/>
          </p:cNvSpPr>
          <p:nvPr/>
        </p:nvSpPr>
        <p:spPr>
          <a:xfrm>
            <a:off x="3448050" y="1365490"/>
            <a:ext cx="5676902" cy="844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SELECT * FROM user WHERE username = ‘‘ or ‘1’ = ‘1’ AND password = ‘‘ or ‘1’ = ‘1’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6366CB-DAF0-B60C-81B9-24BF055E1FE9}"/>
              </a:ext>
            </a:extLst>
          </p:cNvPr>
          <p:cNvCxnSpPr>
            <a:cxnSpLocks/>
          </p:cNvCxnSpPr>
          <p:nvPr/>
        </p:nvCxnSpPr>
        <p:spPr>
          <a:xfrm>
            <a:off x="3657600" y="2399042"/>
            <a:ext cx="5048250" cy="0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 descr="Server">
            <a:extLst>
              <a:ext uri="{FF2B5EF4-FFF2-40B4-BE49-F238E27FC236}">
                <a16:creationId xmlns:a16="http://schemas.microsoft.com/office/drawing/2014/main" id="{E3AC98DB-834F-2821-8EEC-E7DC8217A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450" y="971357"/>
            <a:ext cx="2476498" cy="247649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B5F45E-D35D-DCE6-C312-063C1BBF452D}"/>
              </a:ext>
            </a:extLst>
          </p:cNvPr>
          <p:cNvCxnSpPr/>
          <p:nvPr/>
        </p:nvCxnSpPr>
        <p:spPr>
          <a:xfrm flipH="1">
            <a:off x="3657600" y="2914650"/>
            <a:ext cx="5048250" cy="0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CDFA0058-D7FB-67DD-2058-F305EF416CBB}"/>
              </a:ext>
            </a:extLst>
          </p:cNvPr>
          <p:cNvSpPr txBox="1">
            <a:spLocks/>
          </p:cNvSpPr>
          <p:nvPr/>
        </p:nvSpPr>
        <p:spPr>
          <a:xfrm>
            <a:off x="5705475" y="3050330"/>
            <a:ext cx="952500" cy="3242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15AFC9-DD3B-FAC5-575B-DA009F14B17E}"/>
              </a:ext>
            </a:extLst>
          </p:cNvPr>
          <p:cNvCxnSpPr/>
          <p:nvPr/>
        </p:nvCxnSpPr>
        <p:spPr>
          <a:xfrm>
            <a:off x="2019300" y="3212469"/>
            <a:ext cx="0" cy="800295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F0CBE26-9C3B-BD78-2582-0F572465B1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2574" y="4174896"/>
            <a:ext cx="3215026" cy="180975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F39CB82-D3B5-08BE-9953-EA9B572F91ED}"/>
              </a:ext>
            </a:extLst>
          </p:cNvPr>
          <p:cNvSpPr txBox="1">
            <a:spLocks/>
          </p:cNvSpPr>
          <p:nvPr/>
        </p:nvSpPr>
        <p:spPr>
          <a:xfrm>
            <a:off x="2050087" y="3450476"/>
            <a:ext cx="952500" cy="3242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140163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TIPE SQL INJECTION?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2D5FE-BA4C-EB54-0C23-B8CD4172653A}"/>
              </a:ext>
            </a:extLst>
          </p:cNvPr>
          <p:cNvCxnSpPr/>
          <p:nvPr/>
        </p:nvCxnSpPr>
        <p:spPr>
          <a:xfrm>
            <a:off x="3648221" y="3608437"/>
            <a:ext cx="48955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645921" y="-1272277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304640" y="4880873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68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1" y="1373330"/>
            <a:ext cx="3291842" cy="323850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In-band SQL Injection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2169755" y="5693065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546079" y="-1943098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B9DC6D-082A-C655-863F-CCC7D5493443}"/>
              </a:ext>
            </a:extLst>
          </p:cNvPr>
          <p:cNvSpPr txBox="1">
            <a:spLocks/>
          </p:cNvSpPr>
          <p:nvPr/>
        </p:nvSpPr>
        <p:spPr>
          <a:xfrm>
            <a:off x="4450079" y="1373330"/>
            <a:ext cx="3291842" cy="323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Infirential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SQL Injection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A38571-E958-3A00-AE8D-ED302DBB454E}"/>
              </a:ext>
            </a:extLst>
          </p:cNvPr>
          <p:cNvSpPr txBox="1">
            <a:spLocks/>
          </p:cNvSpPr>
          <p:nvPr/>
        </p:nvSpPr>
        <p:spPr>
          <a:xfrm>
            <a:off x="8450873" y="1373330"/>
            <a:ext cx="3291842" cy="323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Out-of-band SQL Injection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4C66BC-7156-6F2D-CFC8-236F4884AFA6}"/>
              </a:ext>
            </a:extLst>
          </p:cNvPr>
          <p:cNvCxnSpPr>
            <a:cxnSpLocks/>
          </p:cNvCxnSpPr>
          <p:nvPr/>
        </p:nvCxnSpPr>
        <p:spPr>
          <a:xfrm>
            <a:off x="3953021" y="971550"/>
            <a:ext cx="0" cy="54483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26BE0E-9660-04F7-9884-DC05C9168DC4}"/>
              </a:ext>
            </a:extLst>
          </p:cNvPr>
          <p:cNvCxnSpPr>
            <a:cxnSpLocks/>
          </p:cNvCxnSpPr>
          <p:nvPr/>
        </p:nvCxnSpPr>
        <p:spPr>
          <a:xfrm>
            <a:off x="8144021" y="971550"/>
            <a:ext cx="0" cy="54483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81386DF7-2C71-616C-F9A4-4B38074A204B}"/>
              </a:ext>
            </a:extLst>
          </p:cNvPr>
          <p:cNvSpPr txBox="1">
            <a:spLocks/>
          </p:cNvSpPr>
          <p:nvPr/>
        </p:nvSpPr>
        <p:spPr>
          <a:xfrm>
            <a:off x="457205" y="2184977"/>
            <a:ext cx="3291842" cy="17079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teknik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serangan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In-band SQL Injection yang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mengandalkan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wrong massage yang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nantinya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dikirimkan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oleh database server agar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mendapatkan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informasi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tentang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struktur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dalam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database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5B2251-3532-3586-EE11-CA7BF2E11BA9}"/>
              </a:ext>
            </a:extLst>
          </p:cNvPr>
          <p:cNvSpPr txBox="1">
            <a:spLocks/>
          </p:cNvSpPr>
          <p:nvPr/>
        </p:nvSpPr>
        <p:spPr>
          <a:xfrm>
            <a:off x="426721" y="4481758"/>
            <a:ext cx="3291842" cy="323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Error-based SQL Injection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94093A-DF0B-C3AA-8AB3-714D9BE5E70F}"/>
              </a:ext>
            </a:extLst>
          </p:cNvPr>
          <p:cNvCxnSpPr>
            <a:cxnSpLocks/>
          </p:cNvCxnSpPr>
          <p:nvPr/>
        </p:nvCxnSpPr>
        <p:spPr>
          <a:xfrm>
            <a:off x="2089585" y="1786080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7E5570DA-8DF4-93EC-352B-C5EADCDA79A6}"/>
              </a:ext>
            </a:extLst>
          </p:cNvPr>
          <p:cNvSpPr txBox="1">
            <a:spLocks/>
          </p:cNvSpPr>
          <p:nvPr/>
        </p:nvSpPr>
        <p:spPr>
          <a:xfrm>
            <a:off x="4449344" y="4805608"/>
            <a:ext cx="3451857" cy="5524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Blind-Boolean-based SQL Injection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9DF3064-E687-0342-D36B-31795F8E2CA9}"/>
              </a:ext>
            </a:extLst>
          </p:cNvPr>
          <p:cNvSpPr txBox="1">
            <a:spLocks/>
          </p:cNvSpPr>
          <p:nvPr/>
        </p:nvSpPr>
        <p:spPr>
          <a:xfrm>
            <a:off x="4385313" y="5867400"/>
            <a:ext cx="3387091" cy="5524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Blind-time-based SQL Injection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E86D06-4544-AC83-1F5B-B6F01293829D}"/>
              </a:ext>
            </a:extLst>
          </p:cNvPr>
          <p:cNvCxnSpPr>
            <a:cxnSpLocks/>
          </p:cNvCxnSpPr>
          <p:nvPr/>
        </p:nvCxnSpPr>
        <p:spPr>
          <a:xfrm>
            <a:off x="6125207" y="5468503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F9A8A0-8491-6658-2E57-3483E290FD38}"/>
              </a:ext>
            </a:extLst>
          </p:cNvPr>
          <p:cNvCxnSpPr>
            <a:cxnSpLocks/>
          </p:cNvCxnSpPr>
          <p:nvPr/>
        </p:nvCxnSpPr>
        <p:spPr>
          <a:xfrm>
            <a:off x="6111242" y="1759136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B2B10649-2298-BFC3-2F5C-AB6CE25D11EF}"/>
              </a:ext>
            </a:extLst>
          </p:cNvPr>
          <p:cNvSpPr txBox="1">
            <a:spLocks/>
          </p:cNvSpPr>
          <p:nvPr/>
        </p:nvSpPr>
        <p:spPr>
          <a:xfrm>
            <a:off x="8450873" y="1887101"/>
            <a:ext cx="3291842" cy="13424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Celah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keamanan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tergantung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pada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fitur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yang di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aktifkan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oleh server database yang di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gunakan</a:t>
            </a:r>
            <a:endParaRPr lang="en-US" sz="18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ABDECB-C6A0-066E-E99D-A75637EAFF6F}"/>
              </a:ext>
            </a:extLst>
          </p:cNvPr>
          <p:cNvCxnSpPr>
            <a:cxnSpLocks/>
          </p:cNvCxnSpPr>
          <p:nvPr/>
        </p:nvCxnSpPr>
        <p:spPr>
          <a:xfrm>
            <a:off x="2062484" y="4941075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B0B6409A-408A-53D1-812D-1A2B4D395BF5}"/>
              </a:ext>
            </a:extLst>
          </p:cNvPr>
          <p:cNvSpPr txBox="1">
            <a:spLocks/>
          </p:cNvSpPr>
          <p:nvPr/>
        </p:nvSpPr>
        <p:spPr>
          <a:xfrm>
            <a:off x="457205" y="5415977"/>
            <a:ext cx="3291842" cy="323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Union-based SQL Injection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AC5934-0152-0C79-E27B-483A4857E216}"/>
              </a:ext>
            </a:extLst>
          </p:cNvPr>
          <p:cNvCxnSpPr>
            <a:cxnSpLocks/>
          </p:cNvCxnSpPr>
          <p:nvPr/>
        </p:nvCxnSpPr>
        <p:spPr>
          <a:xfrm>
            <a:off x="2072642" y="3972501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814E7EA7-6DF7-8486-B5B8-99DAC0E14984}"/>
              </a:ext>
            </a:extLst>
          </p:cNvPr>
          <p:cNvSpPr txBox="1">
            <a:spLocks/>
          </p:cNvSpPr>
          <p:nvPr/>
        </p:nvSpPr>
        <p:spPr>
          <a:xfrm>
            <a:off x="4385313" y="2132686"/>
            <a:ext cx="3451857" cy="21499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Serangan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jenis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disebut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juga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dengan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logika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serangan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true or false,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yaitu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ketika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serangan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injection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dilakukan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mengalami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keberhasilan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namun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tidak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menampilkan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pesan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error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kepada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penyerang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EA41CC5-74E1-EDAB-89F3-448BFEAB232B}"/>
              </a:ext>
            </a:extLst>
          </p:cNvPr>
          <p:cNvCxnSpPr>
            <a:cxnSpLocks/>
          </p:cNvCxnSpPr>
          <p:nvPr/>
        </p:nvCxnSpPr>
        <p:spPr>
          <a:xfrm>
            <a:off x="6096000" y="4395161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087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65212"/>
            <a:ext cx="9944100" cy="2387600"/>
          </a:xfrm>
        </p:spPr>
        <p:txBody>
          <a:bodyPr/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DAMPAK SQL INJECTION?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2D5FE-BA4C-EB54-0C23-B8CD4172653A}"/>
              </a:ext>
            </a:extLst>
          </p:cNvPr>
          <p:cNvCxnSpPr/>
          <p:nvPr/>
        </p:nvCxnSpPr>
        <p:spPr>
          <a:xfrm>
            <a:off x="3648221" y="3608437"/>
            <a:ext cx="48955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645921" y="-1272277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304640" y="4880873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66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49" y="1854230"/>
            <a:ext cx="10020302" cy="2387600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 Masuk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</a:t>
            </a: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dalam</a:t>
            </a: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website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tanpa</a:t>
            </a: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username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atau</a:t>
            </a: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password yang valid</a:t>
            </a:r>
            <a:b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Memodifikasi</a:t>
            </a: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data</a:t>
            </a:r>
            <a:b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3.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Menghapus</a:t>
            </a: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data yang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tersedia</a:t>
            </a:r>
            <a:b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4.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Mencuri</a:t>
            </a: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informasi</a:t>
            </a:r>
            <a:r>
              <a:rPr lang="en-US" sz="20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yang sensitive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2052321" y="5091035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897306" y="-1660099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F5AB30-49EA-97BC-BAFC-743FB223DF52}"/>
              </a:ext>
            </a:extLst>
          </p:cNvPr>
          <p:cNvSpPr/>
          <p:nvPr/>
        </p:nvSpPr>
        <p:spPr>
          <a:xfrm>
            <a:off x="781050" y="1524000"/>
            <a:ext cx="10591800" cy="312650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Cloud Computing">
            <a:extLst>
              <a:ext uri="{FF2B5EF4-FFF2-40B4-BE49-F238E27FC236}">
                <a16:creationId xmlns:a16="http://schemas.microsoft.com/office/drawing/2014/main" id="{EDF383FF-2977-3957-521F-2F696852C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9800" y="4769186"/>
            <a:ext cx="1543050" cy="1543050"/>
          </a:xfrm>
          <a:prstGeom prst="rect">
            <a:avLst/>
          </a:prstGeom>
        </p:spPr>
      </p:pic>
      <p:pic>
        <p:nvPicPr>
          <p:cNvPr id="10" name="Graphic 9" descr="Database">
            <a:extLst>
              <a:ext uri="{FF2B5EF4-FFF2-40B4-BE49-F238E27FC236}">
                <a16:creationId xmlns:a16="http://schemas.microsoft.com/office/drawing/2014/main" id="{7D33579F-29BD-7D6F-5419-0B04F65FDD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050" y="237338"/>
            <a:ext cx="1181581" cy="118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90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041400"/>
            <a:ext cx="10668000" cy="2387600"/>
          </a:xfrm>
        </p:spPr>
        <p:txBody>
          <a:bodyPr/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MENCEGAH SQL INJECTION?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2D5FE-BA4C-EB54-0C23-B8CD4172653A}"/>
              </a:ext>
            </a:extLst>
          </p:cNvPr>
          <p:cNvCxnSpPr/>
          <p:nvPr/>
        </p:nvCxnSpPr>
        <p:spPr>
          <a:xfrm>
            <a:off x="3648221" y="3608437"/>
            <a:ext cx="48955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645921" y="-1272277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304640" y="4880873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63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1" y="1373330"/>
            <a:ext cx="3291842" cy="323850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Parameterized SQL Query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924929" y="5237596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546079" y="-1943098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B9DC6D-082A-C655-863F-CCC7D5493443}"/>
              </a:ext>
            </a:extLst>
          </p:cNvPr>
          <p:cNvSpPr txBox="1">
            <a:spLocks/>
          </p:cNvSpPr>
          <p:nvPr/>
        </p:nvSpPr>
        <p:spPr>
          <a:xfrm>
            <a:off x="4450079" y="1373330"/>
            <a:ext cx="3291842" cy="323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Validasi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Input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A38571-E958-3A00-AE8D-ED302DBB454E}"/>
              </a:ext>
            </a:extLst>
          </p:cNvPr>
          <p:cNvSpPr txBox="1">
            <a:spLocks/>
          </p:cNvSpPr>
          <p:nvPr/>
        </p:nvSpPr>
        <p:spPr>
          <a:xfrm>
            <a:off x="8450873" y="1373330"/>
            <a:ext cx="3291842" cy="323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Sesuaikan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input box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4C66BC-7156-6F2D-CFC8-236F4884AFA6}"/>
              </a:ext>
            </a:extLst>
          </p:cNvPr>
          <p:cNvCxnSpPr>
            <a:cxnSpLocks/>
          </p:cNvCxnSpPr>
          <p:nvPr/>
        </p:nvCxnSpPr>
        <p:spPr>
          <a:xfrm>
            <a:off x="3953021" y="971550"/>
            <a:ext cx="0" cy="54483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26BE0E-9660-04F7-9884-DC05C9168DC4}"/>
              </a:ext>
            </a:extLst>
          </p:cNvPr>
          <p:cNvCxnSpPr>
            <a:cxnSpLocks/>
          </p:cNvCxnSpPr>
          <p:nvPr/>
        </p:nvCxnSpPr>
        <p:spPr>
          <a:xfrm>
            <a:off x="8144021" y="971550"/>
            <a:ext cx="0" cy="54483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81386DF7-2C71-616C-F9A4-4B38074A204B}"/>
              </a:ext>
            </a:extLst>
          </p:cNvPr>
          <p:cNvSpPr txBox="1">
            <a:spLocks/>
          </p:cNvSpPr>
          <p:nvPr/>
        </p:nvSpPr>
        <p:spPr>
          <a:xfrm>
            <a:off x="460129" y="2285999"/>
            <a:ext cx="3291842" cy="16933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ditujukan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agar database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dapat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membedakan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mana yang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merupakan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SQL statement dan mana yang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merupakan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data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yg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di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oleh user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94093A-DF0B-C3AA-8AB3-714D9BE5E70F}"/>
              </a:ext>
            </a:extLst>
          </p:cNvPr>
          <p:cNvCxnSpPr>
            <a:cxnSpLocks/>
          </p:cNvCxnSpPr>
          <p:nvPr/>
        </p:nvCxnSpPr>
        <p:spPr>
          <a:xfrm>
            <a:off x="2072642" y="1887103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7E5570DA-8DF4-93EC-352B-C5EADCDA79A6}"/>
              </a:ext>
            </a:extLst>
          </p:cNvPr>
          <p:cNvSpPr txBox="1">
            <a:spLocks/>
          </p:cNvSpPr>
          <p:nvPr/>
        </p:nvSpPr>
        <p:spPr>
          <a:xfrm>
            <a:off x="4322593" y="2475921"/>
            <a:ext cx="3451857" cy="15947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Mem-filter data yang di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oleh user.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Misalnya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hanya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mengizinkan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huruf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tidak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dengan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karakter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F9A8A0-8491-6658-2E57-3483E290FD38}"/>
              </a:ext>
            </a:extLst>
          </p:cNvPr>
          <p:cNvCxnSpPr>
            <a:cxnSpLocks/>
          </p:cNvCxnSpPr>
          <p:nvPr/>
        </p:nvCxnSpPr>
        <p:spPr>
          <a:xfrm>
            <a:off x="6111242" y="1887102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B2B10649-2298-BFC3-2F5C-AB6CE25D11EF}"/>
              </a:ext>
            </a:extLst>
          </p:cNvPr>
          <p:cNvSpPr txBox="1">
            <a:spLocks/>
          </p:cNvSpPr>
          <p:nvPr/>
        </p:nvSpPr>
        <p:spPr>
          <a:xfrm>
            <a:off x="8450873" y="2475921"/>
            <a:ext cx="3291842" cy="361430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Apabila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form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untuk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input box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tujuannya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adalah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untuk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menuliskan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maka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diberikan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khusus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untuk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karakter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huruf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saja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Untuk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mengisi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kolom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nomor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telepon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maka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cukup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diisi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dengan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numbering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atau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angka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saja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sehingga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tindakan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penyerangan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SQL Injection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bisa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dihindari</a:t>
            </a:r>
            <a:r>
              <a:rPr lang="en-US" sz="1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8CB05A-734F-1F4C-1024-1D8E6B5E74F4}"/>
              </a:ext>
            </a:extLst>
          </p:cNvPr>
          <p:cNvCxnSpPr>
            <a:cxnSpLocks/>
          </p:cNvCxnSpPr>
          <p:nvPr/>
        </p:nvCxnSpPr>
        <p:spPr>
          <a:xfrm>
            <a:off x="10096794" y="1887102"/>
            <a:ext cx="0" cy="398897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919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041400"/>
            <a:ext cx="10668000" cy="2387600"/>
          </a:xfrm>
        </p:spPr>
        <p:txBody>
          <a:bodyPr/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LET’S PLAY!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2D5FE-BA4C-EB54-0C23-B8CD4172653A}"/>
              </a:ext>
            </a:extLst>
          </p:cNvPr>
          <p:cNvCxnSpPr/>
          <p:nvPr/>
        </p:nvCxnSpPr>
        <p:spPr>
          <a:xfrm>
            <a:off x="3648221" y="3608437"/>
            <a:ext cx="48955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645921" y="-1272277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304640" y="4880873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041400"/>
            <a:ext cx="10668000" cy="2387600"/>
          </a:xfrm>
        </p:spPr>
        <p:txBody>
          <a:bodyPr/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HAVE ANY QUESTIONS?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2D5FE-BA4C-EB54-0C23-B8CD4172653A}"/>
              </a:ext>
            </a:extLst>
          </p:cNvPr>
          <p:cNvCxnSpPr/>
          <p:nvPr/>
        </p:nvCxnSpPr>
        <p:spPr>
          <a:xfrm>
            <a:off x="3648221" y="3608437"/>
            <a:ext cx="48955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408854" y="5077723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546079" y="-1401394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05F0-09BC-00B4-4C5F-7A3007E6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041400"/>
            <a:ext cx="10668000" cy="2387600"/>
          </a:xfrm>
        </p:spPr>
        <p:txBody>
          <a:bodyPr/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SEKIAN, TERIMA KASIH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2D5FE-BA4C-EB54-0C23-B8CD4172653A}"/>
              </a:ext>
            </a:extLst>
          </p:cNvPr>
          <p:cNvCxnSpPr/>
          <p:nvPr/>
        </p:nvCxnSpPr>
        <p:spPr>
          <a:xfrm>
            <a:off x="3648221" y="3608437"/>
            <a:ext cx="48955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888BED1-ED28-D530-7FF8-86ABAEF14F94}"/>
              </a:ext>
            </a:extLst>
          </p:cNvPr>
          <p:cNvSpPr/>
          <p:nvPr/>
        </p:nvSpPr>
        <p:spPr>
          <a:xfrm>
            <a:off x="-1645922" y="-1563254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446A0-B540-BB54-05FD-19BA91E8DD64}"/>
              </a:ext>
            </a:extLst>
          </p:cNvPr>
          <p:cNvSpPr/>
          <p:nvPr/>
        </p:nvSpPr>
        <p:spPr>
          <a:xfrm>
            <a:off x="10546079" y="5294746"/>
            <a:ext cx="3291841" cy="3126507"/>
          </a:xfrm>
          <a:prstGeom prst="ellipse">
            <a:avLst/>
          </a:prstGeom>
          <a:solidFill>
            <a:srgbClr val="00FF00"/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67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365</Words>
  <Application>Microsoft Office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Cascadia Code</vt:lpstr>
      <vt:lpstr>Office Theme</vt:lpstr>
      <vt:lpstr>SQL INJECTION</vt:lpstr>
      <vt:lpstr>DEFINISI SQL INJECTION?</vt:lpstr>
      <vt:lpstr>SQL injection adalah sebuah serangan injeksi kode terhadap celah keamanan database sebuah aplikasi atau website.</vt:lpstr>
      <vt:lpstr>Username : admin Password : adminAdmin</vt:lpstr>
      <vt:lpstr>Username : ‘or ‘1’ = ‘1 Password : ‘or ‘1’ = ‘1</vt:lpstr>
      <vt:lpstr>TIPE SQL INJECTION?</vt:lpstr>
      <vt:lpstr>In-band SQL Injection</vt:lpstr>
      <vt:lpstr>DAMPAK SQL INJECTION?</vt:lpstr>
      <vt:lpstr>1. Masuk ke dalam website tanpa username atau password yang valid  2. Memodifikasi data  3. Menghapus data yang tersedia  4. Mencuri informasi yang sensitive</vt:lpstr>
      <vt:lpstr>MENCEGAH SQL INJECTION?</vt:lpstr>
      <vt:lpstr>Parameterized SQL Query</vt:lpstr>
      <vt:lpstr>LET’S PLAY!</vt:lpstr>
      <vt:lpstr>HAVE ANY QUESTIONS?</vt:lpstr>
      <vt:lpstr>SEKIAN, 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</dc:title>
  <dc:creator>R.Sulthan Hadi</dc:creator>
  <cp:lastModifiedBy>R.Sulthan Hadi</cp:lastModifiedBy>
  <cp:revision>4</cp:revision>
  <dcterms:created xsi:type="dcterms:W3CDTF">2023-04-07T06:33:16Z</dcterms:created>
  <dcterms:modified xsi:type="dcterms:W3CDTF">2023-04-08T08:00:28Z</dcterms:modified>
</cp:coreProperties>
</file>